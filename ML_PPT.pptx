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template - Minor Project review presentation for B.Tech II year. Replace every placeholder in angle brackets. Title slide: speak for 30 seconds - greet the panel, state the title, introduce the team and the guide. Do not read the slide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agenda to one slide. In a 10-12 minute review, spend the most time on literature survey, objectives and work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60-90 seconds. Start broad (the domain), end narrow (your specific task). Avoid definitions copied from Wikipedia - the panel will ask for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must be ONE sentence. If you need two sentences, the scope is too wide for a minor project. The panel's first question is usually: who exactly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good review from an average one. State 2-3 gaps only, and make sure each one maps to a paper you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vague verbs - study, understand, analyse. Use build, classify, detect, compare, deploy. Four objectives is the right number for a minor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diagram left to right in under a minute, naming the input and the output first. Be ready to say where your contribution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module per team member works well - it also answers the panel question 'who did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versions where you know them. If you have a GitHub repository, show the link here - it is strong evidence of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status. Panels reward accurate self-assessment and penalise claims that fall apart under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week numbers to your academic calendar. Showing a plan for the remaining weeks is what the panel wants to hear at Review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introduce anything new here. The conclusion restates the problem, the gap and the promise -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Google Scholar's 'Cite' option and pick MLA/IEEE, then fix the formatting by hand. Never cite a blog, a YouTube video or a paper you have not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deck open on the architecture slide during questions - most panel questions point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A"/>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50" b="1" spc="200" kern="0" dirty="0">
                <a:solidFill>
                  <a:srgbClr val="C8A02C"/>
                </a:solidFill>
                <a:latin typeface="Calibri" pitchFamily="34" charset="0"/>
                <a:ea typeface="Calibri" pitchFamily="34" charset="-122"/>
                <a:cs typeface="Calibri" pitchFamily="34" charset="-120"/>
              </a:rPr>
              <a:t>KL UNIVERSITY  •  BACHUPALLY CAMPUS, HYDERABAD</a:t>
            </a:r>
            <a:endParaRPr lang="en-US" sz="1150" dirty="0"/>
          </a:p>
        </p:txBody>
      </p:sp>
      <p:sp>
        <p:nvSpPr>
          <p:cNvPr id="3" name="Text 1"/>
          <p:cNvSpPr txBox="1"/>
          <p:nvPr/>
        </p:nvSpPr>
        <p:spPr>
          <a:xfrm>
            <a:off x="640080" y="804672"/>
            <a:ext cx="10881360" cy="274320"/>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Department of Computer Science &amp; Engineering</a:t>
            </a:r>
            <a:endParaRPr lang="en-US" sz="1300" dirty="0"/>
          </a:p>
        </p:txBody>
      </p:sp>
      <p:sp>
        <p:nvSpPr>
          <p:cNvPr id="4" name="Text 2"/>
          <p:cNvSpPr txBox="1"/>
          <p:nvPr/>
        </p:nvSpPr>
        <p:spPr>
          <a:xfrm>
            <a:off x="640080" y="1325880"/>
            <a:ext cx="1088136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Predicting Employee Attrition with Explainable Machine Learning (SHAP)</a:t>
            </a:r>
            <a:endParaRPr lang="en-US" sz="4000" dirty="0"/>
          </a:p>
        </p:txBody>
      </p:sp>
      <p:sp>
        <p:nvSpPr>
          <p:cNvPr id="5" name="Text 3"/>
          <p:cNvSpPr txBox="1"/>
          <p:nvPr/>
        </p:nvSpPr>
        <p:spPr>
          <a:xfrm>
            <a:off x="640080" y="2743200"/>
            <a:ext cx="10881360" cy="274320"/>
          </a:xfrm>
          <a:prstGeom prst="rect">
            <a:avLst/>
          </a:prstGeom>
          <a:noFill/>
          <a:ln/>
        </p:spPr>
        <p:txBody>
          <a:bodyPr wrap="square" lIns="0" tIns="0" rIns="0" bIns="0" rtlCol="0" anchor="ctr"/>
          <a:lstStyle/>
          <a:p>
            <a:pPr indent="0" marL="0">
              <a:buNone/>
            </a:pPr>
            <a:r>
              <a:rPr lang="en-US" sz="1250" i="1" dirty="0">
                <a:solidFill>
                  <a:srgbClr val="C8A02C"/>
                </a:solidFill>
                <a:latin typeface="Calibri" pitchFamily="34" charset="0"/>
                <a:ea typeface="Calibri" pitchFamily="34" charset="-122"/>
                <a:cs typeface="Calibri" pitchFamily="34" charset="-120"/>
              </a:rPr>
              <a:t>IBM HR Analytics case study  |  Logistic Regression &amp; Random Forest with SHAP  |  Section 1, Team 22</a:t>
            </a:r>
            <a:endParaRPr lang="en-US" sz="1250" dirty="0"/>
          </a:p>
        </p:txBody>
      </p:sp>
      <p:sp>
        <p:nvSpPr>
          <p:cNvPr id="6" name="Shape 4"/>
          <p:cNvSpPr/>
          <p:nvPr/>
        </p:nvSpPr>
        <p:spPr>
          <a:xfrm>
            <a:off x="640080" y="3200400"/>
            <a:ext cx="5577840" cy="2148840"/>
          </a:xfrm>
          <a:prstGeom prst="roundRect">
            <a:avLst>
              <a:gd name="adj" fmla="val 3404"/>
            </a:avLst>
          </a:prstGeom>
          <a:solidFill>
            <a:srgbClr val="1B2A55"/>
          </a:solidFill>
          <a:ln w="12700">
            <a:solidFill>
              <a:srgbClr val="2E3F6E"/>
            </a:solidFill>
            <a:prstDash val="solid"/>
          </a:ln>
        </p:spPr>
      </p:sp>
      <p:sp>
        <p:nvSpPr>
          <p:cNvPr id="7" name="Text 5"/>
          <p:cNvSpPr txBox="1"/>
          <p:nvPr/>
        </p:nvSpPr>
        <p:spPr>
          <a:xfrm>
            <a:off x="868680" y="3364992"/>
            <a:ext cx="5120640" cy="256032"/>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PRESENTED BY</a:t>
            </a:r>
            <a:endParaRPr lang="en-US" sz="1000" dirty="0"/>
          </a:p>
        </p:txBody>
      </p:sp>
      <p:sp>
        <p:nvSpPr>
          <p:cNvPr id="8" name="Text 6"/>
          <p:cNvSpPr txBox="1"/>
          <p:nvPr/>
        </p:nvSpPr>
        <p:spPr>
          <a:xfrm>
            <a:off x="868680" y="3657600"/>
            <a:ext cx="5120640" cy="1554480"/>
          </a:xfrm>
          <a:prstGeom prst="rect">
            <a:avLst/>
          </a:prstGeom>
          <a:noFill/>
          <a:ln/>
        </p:spPr>
        <p:txBody>
          <a:bodyPr wrap="square" lIns="0" tIns="0" rIns="0" bIns="0" rtlCol="0" anchor="ctr"/>
          <a:lstStyle/>
          <a:p>
            <a:pPr indent="0" marL="0">
              <a:lnSpc>
                <a:spcPts val="2400"/>
              </a:lnSpc>
              <a:buNone/>
            </a:pPr>
            <a:r>
              <a:rPr lang="en-US" sz="1450" dirty="0">
                <a:solidFill>
                  <a:srgbClr val="FFFFFF"/>
                </a:solidFill>
                <a:latin typeface="Calibri" pitchFamily="34" charset="0"/>
                <a:ea typeface="Calibri" pitchFamily="34" charset="-122"/>
                <a:cs typeface="Calibri" pitchFamily="34" charset="-120"/>
              </a:rPr>
              <a:t>2520030242   Bhavana D</a:t>
            </a:r>
            <a:endParaRPr lang="en-US" sz="1450" dirty="0"/>
          </a:p>
          <a:p>
            <a:pPr indent="0" marL="0">
              <a:lnSpc>
                <a:spcPts val="2400"/>
              </a:lnSpc>
              <a:buNone/>
            </a:pPr>
            <a:r>
              <a:rPr lang="en-US" sz="1450" dirty="0">
                <a:solidFill>
                  <a:srgbClr val="FFFFFF"/>
                </a:solidFill>
                <a:latin typeface="Calibri" pitchFamily="34" charset="0"/>
                <a:ea typeface="Calibri" pitchFamily="34" charset="-122"/>
                <a:cs typeface="Calibri" pitchFamily="34" charset="-120"/>
              </a:rPr>
              <a:t>2520030262   Sahithi P</a:t>
            </a:r>
            <a:endParaRPr lang="en-US" sz="1450" dirty="0"/>
          </a:p>
        </p:txBody>
      </p:sp>
      <p:sp>
        <p:nvSpPr>
          <p:cNvPr id="9" name="Shape 7"/>
          <p:cNvSpPr/>
          <p:nvPr/>
        </p:nvSpPr>
        <p:spPr>
          <a:xfrm>
            <a:off x="6492240" y="3200400"/>
            <a:ext cx="5029200" cy="2148840"/>
          </a:xfrm>
          <a:prstGeom prst="roundRect">
            <a:avLst>
              <a:gd name="adj" fmla="val 3404"/>
            </a:avLst>
          </a:prstGeom>
          <a:solidFill>
            <a:srgbClr val="1B2A55"/>
          </a:solidFill>
          <a:ln w="12700">
            <a:solidFill>
              <a:srgbClr val="2E3F6E"/>
            </a:solidFill>
            <a:prstDash val="solid"/>
          </a:ln>
        </p:spPr>
      </p:sp>
      <p:sp>
        <p:nvSpPr>
          <p:cNvPr id="10" name="Text 8"/>
          <p:cNvSpPr txBox="1"/>
          <p:nvPr/>
        </p:nvSpPr>
        <p:spPr>
          <a:xfrm>
            <a:off x="6720840" y="3364992"/>
            <a:ext cx="4572000" cy="256032"/>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UNDER THE GUIDANCE OF</a:t>
            </a:r>
            <a:endParaRPr lang="en-US" sz="1000" dirty="0"/>
          </a:p>
        </p:txBody>
      </p:sp>
      <p:sp>
        <p:nvSpPr>
          <p:cNvPr id="11" name="Text 9"/>
          <p:cNvSpPr txBox="1"/>
          <p:nvPr/>
        </p:nvSpPr>
        <p:spPr>
          <a:xfrm>
            <a:off x="6720840" y="3703320"/>
            <a:ext cx="45720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Raghavendra</a:t>
            </a:r>
            <a:endParaRPr lang="en-US" sz="1600" dirty="0"/>
          </a:p>
        </p:txBody>
      </p:sp>
      <p:sp>
        <p:nvSpPr>
          <p:cNvPr id="12" name="Text 10"/>
          <p:cNvSpPr txBox="1"/>
          <p:nvPr/>
        </p:nvSpPr>
        <p:spPr>
          <a:xfrm>
            <a:off x="6720840" y="4069080"/>
            <a:ext cx="4572000" cy="640080"/>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Department of CSE</a:t>
            </a:r>
            <a:endParaRPr lang="en-US" sz="1300" dirty="0"/>
          </a:p>
          <a:p>
            <a:pPr indent="0" marL="0">
              <a:buNone/>
            </a:pPr>
            <a:r>
              <a:rPr lang="en-US" sz="1300" dirty="0">
                <a:solidFill>
                  <a:srgbClr val="AEBBD6"/>
                </a:solidFill>
                <a:latin typeface="Calibri" pitchFamily="34" charset="0"/>
                <a:ea typeface="Calibri" pitchFamily="34" charset="-122"/>
                <a:cs typeface="Calibri" pitchFamily="34" charset="-120"/>
              </a:rPr>
              <a:t>KLH Bachupally Campus</a:t>
            </a:r>
            <a:endParaRPr lang="en-US" sz="1300" dirty="0"/>
          </a:p>
        </p:txBody>
      </p:sp>
      <p:sp>
        <p:nvSpPr>
          <p:cNvPr id="13" name="Text 11"/>
          <p:cNvSpPr txBox="1"/>
          <p:nvPr/>
        </p:nvSpPr>
        <p:spPr>
          <a:xfrm>
            <a:off x="640080" y="5806440"/>
            <a:ext cx="10881360" cy="274320"/>
          </a:xfrm>
          <a:prstGeom prst="rect">
            <a:avLst/>
          </a:prstGeom>
          <a:noFill/>
          <a:ln/>
        </p:spPr>
        <p:txBody>
          <a:bodyPr wrap="square" lIns="0" tIns="0" rIns="0" bIns="0" rtlCol="0" anchor="ctr"/>
          <a:lstStyle/>
          <a:p>
            <a:pPr indent="0" marL="0">
              <a:buNone/>
            </a:pPr>
            <a:r>
              <a:rPr lang="en-US" sz="1150" dirty="0">
                <a:solidFill>
                  <a:srgbClr val="8C9BBC"/>
                </a:solidFill>
                <a:latin typeface="Calibri" pitchFamily="34" charset="0"/>
                <a:ea typeface="Calibri" pitchFamily="34" charset="-122"/>
                <a:cs typeface="Calibri" pitchFamily="34" charset="-120"/>
              </a:rPr>
              <a:t>B.Tech  |  Machine Learning (25SC2107E)  |  Y25 Trimester 4  |  Academic Year 2026-27  |  Date: 13-10-2026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Contents</a:t>
            </a:r>
            <a:endParaRPr lang="en-US" sz="3100" dirty="0"/>
          </a:p>
        </p:txBody>
      </p:sp>
      <p:sp>
        <p:nvSpPr>
          <p:cNvPr id="4" name="Shape 2"/>
          <p:cNvSpPr/>
          <p:nvPr/>
        </p:nvSpPr>
        <p:spPr>
          <a:xfrm>
            <a:off x="548640" y="1417320"/>
            <a:ext cx="5349240" cy="603504"/>
          </a:xfrm>
          <a:prstGeom prst="roundRect">
            <a:avLst>
              <a:gd name="adj" fmla="val 12121"/>
            </a:avLst>
          </a:prstGeom>
          <a:solidFill>
            <a:srgbClr val="F1F4F9"/>
          </a:solidFill>
          <a:ln w="12700">
            <a:solidFill>
              <a:srgbClr val="DDE3EC"/>
            </a:solidFill>
            <a:prstDash val="solid"/>
          </a:ln>
        </p:spPr>
      </p:sp>
      <p:sp>
        <p:nvSpPr>
          <p:cNvPr id="5" name="Shape 3"/>
          <p:cNvSpPr/>
          <p:nvPr/>
        </p:nvSpPr>
        <p:spPr>
          <a:xfrm>
            <a:off x="731520" y="1527048"/>
            <a:ext cx="384048" cy="384048"/>
          </a:xfrm>
          <a:prstGeom prst="ellipse">
            <a:avLst/>
          </a:prstGeom>
          <a:solidFill>
            <a:srgbClr val="C8A02C"/>
          </a:solidFill>
          <a:ln/>
        </p:spPr>
      </p:sp>
      <p:sp>
        <p:nvSpPr>
          <p:cNvPr id="6" name="Text 4"/>
          <p:cNvSpPr txBox="1"/>
          <p:nvPr/>
        </p:nvSpPr>
        <p:spPr>
          <a:xfrm>
            <a:off x="731520" y="152704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61872" y="141732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Introduction &amp; Domain Background</a:t>
            </a:r>
            <a:endParaRPr lang="en-US" sz="1400" dirty="0"/>
          </a:p>
        </p:txBody>
      </p:sp>
      <p:sp>
        <p:nvSpPr>
          <p:cNvPr id="8" name="Shape 6"/>
          <p:cNvSpPr/>
          <p:nvPr/>
        </p:nvSpPr>
        <p:spPr>
          <a:xfrm>
            <a:off x="548640" y="2167128"/>
            <a:ext cx="5349240" cy="603504"/>
          </a:xfrm>
          <a:prstGeom prst="roundRect">
            <a:avLst>
              <a:gd name="adj" fmla="val 12121"/>
            </a:avLst>
          </a:prstGeom>
          <a:solidFill>
            <a:srgbClr val="F1F4F9"/>
          </a:solidFill>
          <a:ln w="12700">
            <a:solidFill>
              <a:srgbClr val="DDE3EC"/>
            </a:solidFill>
            <a:prstDash val="solid"/>
          </a:ln>
        </p:spPr>
      </p:sp>
      <p:sp>
        <p:nvSpPr>
          <p:cNvPr id="9" name="Shape 7"/>
          <p:cNvSpPr/>
          <p:nvPr/>
        </p:nvSpPr>
        <p:spPr>
          <a:xfrm>
            <a:off x="731520" y="2276856"/>
            <a:ext cx="384048" cy="384048"/>
          </a:xfrm>
          <a:prstGeom prst="ellipse">
            <a:avLst/>
          </a:prstGeom>
          <a:solidFill>
            <a:srgbClr val="C8A02C"/>
          </a:solidFill>
          <a:ln/>
        </p:spPr>
      </p:sp>
      <p:sp>
        <p:nvSpPr>
          <p:cNvPr id="10" name="Text 8"/>
          <p:cNvSpPr txBox="1"/>
          <p:nvPr/>
        </p:nvSpPr>
        <p:spPr>
          <a:xfrm>
            <a:off x="731520" y="2276856"/>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61872" y="2167128"/>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Problem Statement &amp; Motivation</a:t>
            </a:r>
            <a:endParaRPr lang="en-US" sz="1400" dirty="0"/>
          </a:p>
        </p:txBody>
      </p:sp>
      <p:sp>
        <p:nvSpPr>
          <p:cNvPr id="12" name="Shape 10"/>
          <p:cNvSpPr/>
          <p:nvPr/>
        </p:nvSpPr>
        <p:spPr>
          <a:xfrm>
            <a:off x="548640" y="2916936"/>
            <a:ext cx="5349240" cy="603504"/>
          </a:xfrm>
          <a:prstGeom prst="roundRect">
            <a:avLst>
              <a:gd name="adj" fmla="val 12121"/>
            </a:avLst>
          </a:prstGeom>
          <a:solidFill>
            <a:srgbClr val="F1F4F9"/>
          </a:solidFill>
          <a:ln w="12700">
            <a:solidFill>
              <a:srgbClr val="DDE3EC"/>
            </a:solidFill>
            <a:prstDash val="solid"/>
          </a:ln>
        </p:spPr>
      </p:sp>
      <p:sp>
        <p:nvSpPr>
          <p:cNvPr id="13" name="Shape 11"/>
          <p:cNvSpPr/>
          <p:nvPr/>
        </p:nvSpPr>
        <p:spPr>
          <a:xfrm>
            <a:off x="731520" y="3026664"/>
            <a:ext cx="384048" cy="384048"/>
          </a:xfrm>
          <a:prstGeom prst="ellipse">
            <a:avLst/>
          </a:prstGeom>
          <a:solidFill>
            <a:srgbClr val="C8A02C"/>
          </a:solidFill>
          <a:ln/>
        </p:spPr>
      </p:sp>
      <p:sp>
        <p:nvSpPr>
          <p:cNvPr id="14" name="Text 12"/>
          <p:cNvSpPr txBox="1"/>
          <p:nvPr/>
        </p:nvSpPr>
        <p:spPr>
          <a:xfrm>
            <a:off x="731520" y="302666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61872" y="2916936"/>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Literature Survey</a:t>
            </a:r>
            <a:endParaRPr lang="en-US" sz="1400" dirty="0"/>
          </a:p>
        </p:txBody>
      </p:sp>
      <p:sp>
        <p:nvSpPr>
          <p:cNvPr id="16" name="Shape 14"/>
          <p:cNvSpPr/>
          <p:nvPr/>
        </p:nvSpPr>
        <p:spPr>
          <a:xfrm>
            <a:off x="548640" y="3666744"/>
            <a:ext cx="5349240" cy="603504"/>
          </a:xfrm>
          <a:prstGeom prst="roundRect">
            <a:avLst>
              <a:gd name="adj" fmla="val 12121"/>
            </a:avLst>
          </a:prstGeom>
          <a:solidFill>
            <a:srgbClr val="F1F4F9"/>
          </a:solidFill>
          <a:ln w="12700">
            <a:solidFill>
              <a:srgbClr val="DDE3EC"/>
            </a:solidFill>
            <a:prstDash val="solid"/>
          </a:ln>
        </p:spPr>
      </p:sp>
      <p:sp>
        <p:nvSpPr>
          <p:cNvPr id="17" name="Shape 15"/>
          <p:cNvSpPr/>
          <p:nvPr/>
        </p:nvSpPr>
        <p:spPr>
          <a:xfrm>
            <a:off x="731520" y="3776472"/>
            <a:ext cx="384048" cy="384048"/>
          </a:xfrm>
          <a:prstGeom prst="ellipse">
            <a:avLst/>
          </a:prstGeom>
          <a:solidFill>
            <a:srgbClr val="C8A02C"/>
          </a:solidFill>
          <a:ln/>
        </p:spPr>
      </p:sp>
      <p:sp>
        <p:nvSpPr>
          <p:cNvPr id="18" name="Text 16"/>
          <p:cNvSpPr txBox="1"/>
          <p:nvPr/>
        </p:nvSpPr>
        <p:spPr>
          <a:xfrm>
            <a:off x="731520" y="377647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61872" y="3666744"/>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Research Gap Identified</a:t>
            </a:r>
            <a:endParaRPr lang="en-US" sz="1400" dirty="0"/>
          </a:p>
        </p:txBody>
      </p:sp>
      <p:sp>
        <p:nvSpPr>
          <p:cNvPr id="20" name="Shape 18"/>
          <p:cNvSpPr/>
          <p:nvPr/>
        </p:nvSpPr>
        <p:spPr>
          <a:xfrm>
            <a:off x="548640" y="4416552"/>
            <a:ext cx="5349240" cy="603504"/>
          </a:xfrm>
          <a:prstGeom prst="roundRect">
            <a:avLst>
              <a:gd name="adj" fmla="val 12121"/>
            </a:avLst>
          </a:prstGeom>
          <a:solidFill>
            <a:srgbClr val="F1F4F9"/>
          </a:solidFill>
          <a:ln w="12700">
            <a:solidFill>
              <a:srgbClr val="DDE3EC"/>
            </a:solidFill>
            <a:prstDash val="solid"/>
          </a:ln>
        </p:spPr>
      </p:sp>
      <p:sp>
        <p:nvSpPr>
          <p:cNvPr id="21" name="Shape 19"/>
          <p:cNvSpPr/>
          <p:nvPr/>
        </p:nvSpPr>
        <p:spPr>
          <a:xfrm>
            <a:off x="731520" y="4526280"/>
            <a:ext cx="384048" cy="384048"/>
          </a:xfrm>
          <a:prstGeom prst="ellipse">
            <a:avLst/>
          </a:prstGeom>
          <a:solidFill>
            <a:srgbClr val="C8A02C"/>
          </a:solidFill>
          <a:ln/>
        </p:spPr>
      </p:sp>
      <p:sp>
        <p:nvSpPr>
          <p:cNvPr id="22" name="Text 20"/>
          <p:cNvSpPr txBox="1"/>
          <p:nvPr/>
        </p:nvSpPr>
        <p:spPr>
          <a:xfrm>
            <a:off x="731520" y="452628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261872" y="4416552"/>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Objectives of the Project</a:t>
            </a:r>
            <a:endParaRPr lang="en-US" sz="1400" dirty="0"/>
          </a:p>
        </p:txBody>
      </p:sp>
      <p:sp>
        <p:nvSpPr>
          <p:cNvPr id="24" name="Shape 22"/>
          <p:cNvSpPr/>
          <p:nvPr/>
        </p:nvSpPr>
        <p:spPr>
          <a:xfrm>
            <a:off x="548640" y="5166360"/>
            <a:ext cx="5349240" cy="603504"/>
          </a:xfrm>
          <a:prstGeom prst="roundRect">
            <a:avLst>
              <a:gd name="adj" fmla="val 12121"/>
            </a:avLst>
          </a:prstGeom>
          <a:solidFill>
            <a:srgbClr val="F1F4F9"/>
          </a:solidFill>
          <a:ln w="12700">
            <a:solidFill>
              <a:srgbClr val="DDE3EC"/>
            </a:solidFill>
            <a:prstDash val="solid"/>
          </a:ln>
        </p:spPr>
      </p:sp>
      <p:sp>
        <p:nvSpPr>
          <p:cNvPr id="25" name="Shape 23"/>
          <p:cNvSpPr/>
          <p:nvPr/>
        </p:nvSpPr>
        <p:spPr>
          <a:xfrm>
            <a:off x="731520" y="5276088"/>
            <a:ext cx="384048" cy="384048"/>
          </a:xfrm>
          <a:prstGeom prst="ellipse">
            <a:avLst/>
          </a:prstGeom>
          <a:solidFill>
            <a:srgbClr val="C8A02C"/>
          </a:solidFill>
          <a:ln/>
        </p:spPr>
      </p:sp>
      <p:sp>
        <p:nvSpPr>
          <p:cNvPr id="26" name="Text 24"/>
          <p:cNvSpPr txBox="1"/>
          <p:nvPr/>
        </p:nvSpPr>
        <p:spPr>
          <a:xfrm>
            <a:off x="731520" y="527608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1261872" y="516636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Proposed System Architecture</a:t>
            </a:r>
            <a:endParaRPr lang="en-US" sz="1400" dirty="0"/>
          </a:p>
        </p:txBody>
      </p:sp>
      <p:sp>
        <p:nvSpPr>
          <p:cNvPr id="28" name="Shape 26"/>
          <p:cNvSpPr/>
          <p:nvPr/>
        </p:nvSpPr>
        <p:spPr>
          <a:xfrm>
            <a:off x="6217920" y="1417320"/>
            <a:ext cx="5349240" cy="603504"/>
          </a:xfrm>
          <a:prstGeom prst="roundRect">
            <a:avLst>
              <a:gd name="adj" fmla="val 12121"/>
            </a:avLst>
          </a:prstGeom>
          <a:solidFill>
            <a:srgbClr val="F1F4F9"/>
          </a:solidFill>
          <a:ln w="12700">
            <a:solidFill>
              <a:srgbClr val="DDE3EC"/>
            </a:solidFill>
            <a:prstDash val="solid"/>
          </a:ln>
        </p:spPr>
      </p:sp>
      <p:sp>
        <p:nvSpPr>
          <p:cNvPr id="29" name="Shape 27"/>
          <p:cNvSpPr/>
          <p:nvPr/>
        </p:nvSpPr>
        <p:spPr>
          <a:xfrm>
            <a:off x="6400800" y="1527048"/>
            <a:ext cx="384048" cy="384048"/>
          </a:xfrm>
          <a:prstGeom prst="ellipse">
            <a:avLst/>
          </a:prstGeom>
          <a:solidFill>
            <a:srgbClr val="C8A02C"/>
          </a:solidFill>
          <a:ln/>
        </p:spPr>
      </p:sp>
      <p:sp>
        <p:nvSpPr>
          <p:cNvPr id="30" name="Text 28"/>
          <p:cNvSpPr txBox="1"/>
          <p:nvPr/>
        </p:nvSpPr>
        <p:spPr>
          <a:xfrm>
            <a:off x="6400800" y="152704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6931152" y="141732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Methodology &amp; Modules</a:t>
            </a:r>
            <a:endParaRPr lang="en-US" sz="1400" dirty="0"/>
          </a:p>
        </p:txBody>
      </p:sp>
      <p:sp>
        <p:nvSpPr>
          <p:cNvPr id="32" name="Shape 30"/>
          <p:cNvSpPr/>
          <p:nvPr/>
        </p:nvSpPr>
        <p:spPr>
          <a:xfrm>
            <a:off x="6217920" y="2167128"/>
            <a:ext cx="5349240" cy="603504"/>
          </a:xfrm>
          <a:prstGeom prst="roundRect">
            <a:avLst>
              <a:gd name="adj" fmla="val 12121"/>
            </a:avLst>
          </a:prstGeom>
          <a:solidFill>
            <a:srgbClr val="F1F4F9"/>
          </a:solidFill>
          <a:ln w="12700">
            <a:solidFill>
              <a:srgbClr val="DDE3EC"/>
            </a:solidFill>
            <a:prstDash val="solid"/>
          </a:ln>
        </p:spPr>
      </p:sp>
      <p:sp>
        <p:nvSpPr>
          <p:cNvPr id="33" name="Shape 31"/>
          <p:cNvSpPr/>
          <p:nvPr/>
        </p:nvSpPr>
        <p:spPr>
          <a:xfrm>
            <a:off x="6400800" y="2276856"/>
            <a:ext cx="384048" cy="384048"/>
          </a:xfrm>
          <a:prstGeom prst="ellipse">
            <a:avLst/>
          </a:prstGeom>
          <a:solidFill>
            <a:srgbClr val="C8A02C"/>
          </a:solidFill>
          <a:ln/>
        </p:spPr>
      </p:sp>
      <p:sp>
        <p:nvSpPr>
          <p:cNvPr id="34" name="Text 32"/>
          <p:cNvSpPr txBox="1"/>
          <p:nvPr/>
        </p:nvSpPr>
        <p:spPr>
          <a:xfrm>
            <a:off x="6400800" y="2276856"/>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6931152" y="2167128"/>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Tools and Technologies</a:t>
            </a:r>
            <a:endParaRPr lang="en-US" sz="1400" dirty="0"/>
          </a:p>
        </p:txBody>
      </p:sp>
      <p:sp>
        <p:nvSpPr>
          <p:cNvPr id="36" name="Shape 34"/>
          <p:cNvSpPr/>
          <p:nvPr/>
        </p:nvSpPr>
        <p:spPr>
          <a:xfrm>
            <a:off x="6217920" y="2916936"/>
            <a:ext cx="5349240" cy="603504"/>
          </a:xfrm>
          <a:prstGeom prst="roundRect">
            <a:avLst>
              <a:gd name="adj" fmla="val 12121"/>
            </a:avLst>
          </a:prstGeom>
          <a:solidFill>
            <a:srgbClr val="F1F4F9"/>
          </a:solidFill>
          <a:ln w="12700">
            <a:solidFill>
              <a:srgbClr val="DDE3EC"/>
            </a:solidFill>
            <a:prstDash val="solid"/>
          </a:ln>
        </p:spPr>
      </p:sp>
      <p:sp>
        <p:nvSpPr>
          <p:cNvPr id="37" name="Shape 35"/>
          <p:cNvSpPr/>
          <p:nvPr/>
        </p:nvSpPr>
        <p:spPr>
          <a:xfrm>
            <a:off x="6400800" y="3026664"/>
            <a:ext cx="384048" cy="384048"/>
          </a:xfrm>
          <a:prstGeom prst="ellipse">
            <a:avLst/>
          </a:prstGeom>
          <a:solidFill>
            <a:srgbClr val="C8A02C"/>
          </a:solidFill>
          <a:ln/>
        </p:spPr>
      </p:sp>
      <p:sp>
        <p:nvSpPr>
          <p:cNvPr id="38" name="Text 36"/>
          <p:cNvSpPr txBox="1"/>
          <p:nvPr/>
        </p:nvSpPr>
        <p:spPr>
          <a:xfrm>
            <a:off x="6400800" y="302666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6931152" y="2916936"/>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Work Completed / Demo</a:t>
            </a:r>
            <a:endParaRPr lang="en-US" sz="1400" dirty="0"/>
          </a:p>
        </p:txBody>
      </p:sp>
      <p:sp>
        <p:nvSpPr>
          <p:cNvPr id="40" name="Shape 38"/>
          <p:cNvSpPr/>
          <p:nvPr/>
        </p:nvSpPr>
        <p:spPr>
          <a:xfrm>
            <a:off x="6217920" y="3666744"/>
            <a:ext cx="5349240" cy="603504"/>
          </a:xfrm>
          <a:prstGeom prst="roundRect">
            <a:avLst>
              <a:gd name="adj" fmla="val 12121"/>
            </a:avLst>
          </a:prstGeom>
          <a:solidFill>
            <a:srgbClr val="F1F4F9"/>
          </a:solidFill>
          <a:ln w="12700">
            <a:solidFill>
              <a:srgbClr val="DDE3EC"/>
            </a:solidFill>
            <a:prstDash val="solid"/>
          </a:ln>
        </p:spPr>
      </p:sp>
      <p:sp>
        <p:nvSpPr>
          <p:cNvPr id="41" name="Shape 39"/>
          <p:cNvSpPr/>
          <p:nvPr/>
        </p:nvSpPr>
        <p:spPr>
          <a:xfrm>
            <a:off x="6400800" y="3776472"/>
            <a:ext cx="384048" cy="384048"/>
          </a:xfrm>
          <a:prstGeom prst="ellipse">
            <a:avLst/>
          </a:prstGeom>
          <a:solidFill>
            <a:srgbClr val="C8A02C"/>
          </a:solidFill>
          <a:ln/>
        </p:spPr>
      </p:sp>
      <p:sp>
        <p:nvSpPr>
          <p:cNvPr id="42" name="Text 40"/>
          <p:cNvSpPr txBox="1"/>
          <p:nvPr/>
        </p:nvSpPr>
        <p:spPr>
          <a:xfrm>
            <a:off x="6400800" y="377647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10</a:t>
            </a:r>
            <a:endParaRPr lang="en-US" sz="1300" dirty="0"/>
          </a:p>
        </p:txBody>
      </p:sp>
      <p:sp>
        <p:nvSpPr>
          <p:cNvPr id="43" name="Text 41"/>
          <p:cNvSpPr txBox="1"/>
          <p:nvPr/>
        </p:nvSpPr>
        <p:spPr>
          <a:xfrm>
            <a:off x="6931152" y="3666744"/>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Timeline &amp; Review Plan</a:t>
            </a:r>
            <a:endParaRPr lang="en-US" sz="1400" dirty="0"/>
          </a:p>
        </p:txBody>
      </p:sp>
      <p:sp>
        <p:nvSpPr>
          <p:cNvPr id="44" name="Shape 42"/>
          <p:cNvSpPr/>
          <p:nvPr/>
        </p:nvSpPr>
        <p:spPr>
          <a:xfrm>
            <a:off x="6217920" y="4416552"/>
            <a:ext cx="5349240" cy="603504"/>
          </a:xfrm>
          <a:prstGeom prst="roundRect">
            <a:avLst>
              <a:gd name="adj" fmla="val 12121"/>
            </a:avLst>
          </a:prstGeom>
          <a:solidFill>
            <a:srgbClr val="F1F4F9"/>
          </a:solidFill>
          <a:ln w="12700">
            <a:solidFill>
              <a:srgbClr val="DDE3EC"/>
            </a:solidFill>
            <a:prstDash val="solid"/>
          </a:ln>
        </p:spPr>
      </p:sp>
      <p:sp>
        <p:nvSpPr>
          <p:cNvPr id="45" name="Shape 43"/>
          <p:cNvSpPr/>
          <p:nvPr/>
        </p:nvSpPr>
        <p:spPr>
          <a:xfrm>
            <a:off x="6400800" y="4526280"/>
            <a:ext cx="384048" cy="384048"/>
          </a:xfrm>
          <a:prstGeom prst="ellipse">
            <a:avLst/>
          </a:prstGeom>
          <a:solidFill>
            <a:srgbClr val="C8A02C"/>
          </a:solidFill>
          <a:ln/>
        </p:spPr>
      </p:sp>
      <p:sp>
        <p:nvSpPr>
          <p:cNvPr id="46" name="Text 44"/>
          <p:cNvSpPr txBox="1"/>
          <p:nvPr/>
        </p:nvSpPr>
        <p:spPr>
          <a:xfrm>
            <a:off x="6400800" y="452628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11</a:t>
            </a:r>
            <a:endParaRPr lang="en-US" sz="1300" dirty="0"/>
          </a:p>
        </p:txBody>
      </p:sp>
      <p:sp>
        <p:nvSpPr>
          <p:cNvPr id="47" name="Text 45"/>
          <p:cNvSpPr txBox="1"/>
          <p:nvPr/>
        </p:nvSpPr>
        <p:spPr>
          <a:xfrm>
            <a:off x="6931152" y="4416552"/>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Expected Outcome &amp; Conclusion</a:t>
            </a:r>
            <a:endParaRPr lang="en-US" sz="1400" dirty="0"/>
          </a:p>
        </p:txBody>
      </p:sp>
      <p:sp>
        <p:nvSpPr>
          <p:cNvPr id="48" name="Shape 46"/>
          <p:cNvSpPr/>
          <p:nvPr/>
        </p:nvSpPr>
        <p:spPr>
          <a:xfrm>
            <a:off x="6217920" y="5166360"/>
            <a:ext cx="5349240" cy="603504"/>
          </a:xfrm>
          <a:prstGeom prst="roundRect">
            <a:avLst>
              <a:gd name="adj" fmla="val 12121"/>
            </a:avLst>
          </a:prstGeom>
          <a:solidFill>
            <a:srgbClr val="F1F4F9"/>
          </a:solidFill>
          <a:ln w="12700">
            <a:solidFill>
              <a:srgbClr val="DDE3EC"/>
            </a:solidFill>
            <a:prstDash val="solid"/>
          </a:ln>
        </p:spPr>
      </p:sp>
      <p:sp>
        <p:nvSpPr>
          <p:cNvPr id="49" name="Shape 47"/>
          <p:cNvSpPr/>
          <p:nvPr/>
        </p:nvSpPr>
        <p:spPr>
          <a:xfrm>
            <a:off x="6400800" y="5276088"/>
            <a:ext cx="384048" cy="384048"/>
          </a:xfrm>
          <a:prstGeom prst="ellipse">
            <a:avLst/>
          </a:prstGeom>
          <a:solidFill>
            <a:srgbClr val="C8A02C"/>
          </a:solidFill>
          <a:ln/>
        </p:spPr>
      </p:sp>
      <p:sp>
        <p:nvSpPr>
          <p:cNvPr id="50" name="Text 48"/>
          <p:cNvSpPr txBox="1"/>
          <p:nvPr/>
        </p:nvSpPr>
        <p:spPr>
          <a:xfrm>
            <a:off x="6400800" y="527608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12</a:t>
            </a:r>
            <a:endParaRPr lang="en-US" sz="1300" dirty="0"/>
          </a:p>
        </p:txBody>
      </p:sp>
      <p:sp>
        <p:nvSpPr>
          <p:cNvPr id="51" name="Text 49"/>
          <p:cNvSpPr txBox="1"/>
          <p:nvPr/>
        </p:nvSpPr>
        <p:spPr>
          <a:xfrm>
            <a:off x="6931152" y="516636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References</a:t>
            </a:r>
            <a:endParaRPr lang="en-US" sz="1400" dirty="0"/>
          </a:p>
        </p:txBody>
      </p:sp>
      <p:sp>
        <p:nvSpPr>
          <p:cNvPr id="52" name="Text 5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53" name="Text 5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Introduction &amp; Domain Background</a:t>
            </a:r>
            <a:endParaRPr lang="en-US" sz="3100" dirty="0"/>
          </a:p>
        </p:txBody>
      </p:sp>
      <p:sp>
        <p:nvSpPr>
          <p:cNvPr id="4" name="Shape 2"/>
          <p:cNvSpPr/>
          <p:nvPr/>
        </p:nvSpPr>
        <p:spPr>
          <a:xfrm>
            <a:off x="548640" y="1417320"/>
            <a:ext cx="6583680" cy="4480560"/>
          </a:xfrm>
          <a:prstGeom prst="roundRect">
            <a:avLst>
              <a:gd name="adj" fmla="val 1633"/>
            </a:avLst>
          </a:prstGeom>
          <a:solidFill>
            <a:srgbClr val="F1F4F9"/>
          </a:solidFill>
          <a:ln w="12700">
            <a:solidFill>
              <a:srgbClr val="DDE3EC"/>
            </a:solidFill>
            <a:prstDash val="solid"/>
          </a:ln>
        </p:spPr>
      </p:sp>
      <p:sp>
        <p:nvSpPr>
          <p:cNvPr id="5" name="Text 3"/>
          <p:cNvSpPr txBox="1"/>
          <p:nvPr/>
        </p:nvSpPr>
        <p:spPr>
          <a:xfrm>
            <a:off x="868680" y="1691640"/>
            <a:ext cx="6035040" cy="3931920"/>
          </a:xfrm>
          <a:prstGeom prst="rect">
            <a:avLst/>
          </a:prstGeom>
          <a:noFill/>
          <a:ln/>
        </p:spPr>
        <p:txBody>
          <a:bodyPr wrap="square" lIns="0" tIns="0" rIns="0" bIns="0" rtlCol="0" anchor="ctr"/>
          <a:lstStyle/>
          <a:p>
            <a:pPr indent="0" marL="0">
              <a:lnSpc>
                <a:spcPts val="2200"/>
              </a:lnSpc>
              <a:buNone/>
            </a:pPr>
            <a:r>
              <a:rPr lang="en-US" sz="1500" b="1" dirty="0">
                <a:solidFill>
                  <a:srgbClr val="1B2A55"/>
                </a:solidFill>
                <a:latin typeface="Calibri" pitchFamily="34" charset="0"/>
                <a:ea typeface="Calibri" pitchFamily="34" charset="-122"/>
                <a:cs typeface="Calibri" pitchFamily="34" charset="-120"/>
              </a:rPr>
              <a:t>What is the domain?</a:t>
            </a:r>
            <a:endParaRPr lang="en-US" sz="1500" dirty="0"/>
          </a:p>
          <a:p>
            <a:pPr indent="0" marL="0">
              <a:lnSpc>
                <a:spcPts val="2200"/>
              </a:lnSpc>
              <a:buNone/>
            </a:pPr>
            <a:r>
              <a:rPr lang="en-US" sz="1350" dirty="0">
                <a:solidFill>
                  <a:srgbClr val="1F2430"/>
                </a:solidFill>
                <a:latin typeface="Calibri" pitchFamily="34" charset="0"/>
                <a:ea typeface="Calibri" pitchFamily="34" charset="-122"/>
                <a:cs typeface="Calibri" pitchFamily="34" charset="-120"/>
              </a:rPr>
              <a:t>HR analytics: using employee data to understand and predict workforce outcomes. Here the task is attrition, i.e. which employees are likely to leave.</a:t>
            </a:r>
            <a:endParaRPr lang="en-US" sz="1500" dirty="0"/>
          </a:p>
          <a:p>
            <a:pPr indent="0" marL="0">
              <a:lnSpc>
                <a:spcPts val="22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indent="0" marL="0">
              <a:lnSpc>
                <a:spcPts val="2200"/>
              </a:lnSpc>
              <a:buNone/>
            </a:pPr>
            <a:r>
              <a:rPr lang="en-US" sz="1500" b="1" dirty="0">
                <a:solidFill>
                  <a:srgbClr val="1B2A55"/>
                </a:solidFill>
                <a:latin typeface="Calibri" pitchFamily="34" charset="0"/>
                <a:ea typeface="Calibri" pitchFamily="34" charset="-122"/>
                <a:cs typeface="Calibri" pitchFamily="34" charset="-120"/>
              </a:rPr>
              <a:t>Why is it relevant today?</a:t>
            </a:r>
            <a:endParaRPr lang="en-US" sz="1500" dirty="0"/>
          </a:p>
          <a:p>
            <a:pPr indent="0" marL="0">
              <a:lnSpc>
                <a:spcPts val="2200"/>
              </a:lnSpc>
              <a:buNone/>
            </a:pPr>
            <a:r>
              <a:rPr lang="en-US" sz="1350" dirty="0">
                <a:solidFill>
                  <a:srgbClr val="1F2430"/>
                </a:solidFill>
                <a:latin typeface="Calibri" pitchFamily="34" charset="0"/>
                <a:ea typeface="Calibri" pitchFamily="34" charset="-122"/>
                <a:cs typeface="Calibri" pitchFamily="34" charset="-120"/>
              </a:rPr>
              <a:t>In the IBM HR dataset 16.1% of 1,470 employees left [12]. Recent studies pair ML with SHAP so HR can see why [1], [2].</a:t>
            </a:r>
            <a:endParaRPr lang="en-US" sz="1500" dirty="0"/>
          </a:p>
          <a:p>
            <a:pPr indent="0" marL="0">
              <a:lnSpc>
                <a:spcPts val="22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indent="0" marL="0">
              <a:lnSpc>
                <a:spcPts val="2200"/>
              </a:lnSpc>
              <a:buNone/>
            </a:pPr>
            <a:r>
              <a:rPr lang="en-US" sz="1500" b="1" dirty="0">
                <a:solidFill>
                  <a:srgbClr val="1B2A55"/>
                </a:solidFill>
                <a:latin typeface="Calibri" pitchFamily="34" charset="0"/>
                <a:ea typeface="Calibri" pitchFamily="34" charset="-122"/>
                <a:cs typeface="Calibri" pitchFamily="34" charset="-120"/>
              </a:rPr>
              <a:t>Where does your project sit?</a:t>
            </a:r>
            <a:endParaRPr lang="en-US" sz="1500" dirty="0"/>
          </a:p>
          <a:p>
            <a:pPr indent="0" marL="0">
              <a:lnSpc>
                <a:spcPts val="2200"/>
              </a:lnSpc>
              <a:buNone/>
            </a:pPr>
            <a:r>
              <a:rPr lang="en-US" sz="1350" dirty="0">
                <a:solidFill>
                  <a:srgbClr val="1F2430"/>
                </a:solidFill>
                <a:latin typeface="Calibri" pitchFamily="34" charset="0"/>
                <a:ea typeface="Calibri" pitchFamily="34" charset="-122"/>
                <a:cs typeface="Calibri" pitchFamily="34" charset="-120"/>
              </a:rPr>
              <a:t>Binary classification (LR vs RF) on IBM HR data, explained with SHAP at workforce and individual level.</a:t>
            </a:r>
            <a:endParaRPr lang="en-US" sz="1500" dirty="0"/>
          </a:p>
        </p:txBody>
      </p:sp>
      <p:sp>
        <p:nvSpPr>
          <p:cNvPr id="6" name="Shape 4"/>
          <p:cNvSpPr/>
          <p:nvPr/>
        </p:nvSpPr>
        <p:spPr>
          <a:xfrm>
            <a:off x="7406640" y="1417320"/>
            <a:ext cx="4206240" cy="2834640"/>
          </a:xfrm>
          <a:prstGeom prst="roundRect">
            <a:avLst>
              <a:gd name="adj" fmla="val 2581"/>
            </a:avLst>
          </a:prstGeom>
          <a:solidFill>
            <a:srgbClr val="FFFFFF"/>
          </a:solidFill>
          <a:ln w="12700">
            <a:solidFill>
              <a:srgbClr val="9AA5B8"/>
            </a:solidFill>
            <a:prstDash val="dash"/>
          </a:ln>
        </p:spPr>
      </p:sp>
      <p:sp>
        <p:nvSpPr>
          <p:cNvPr id="7" name="Text 5"/>
          <p:cNvSpPr txBox="1"/>
          <p:nvPr/>
        </p:nvSpPr>
        <p:spPr>
          <a:xfrm>
            <a:off x="7543800" y="1417320"/>
            <a:ext cx="3931920" cy="2834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
            </a:r>
            <a:endParaRPr lang="en-US" sz="1200" dirty="0"/>
          </a:p>
        </p:txBody>
      </p:sp>
      <p:sp>
        <p:nvSpPr>
          <p:cNvPr id="8" name="Shape 6"/>
          <p:cNvSpPr/>
          <p:nvPr/>
        </p:nvSpPr>
        <p:spPr>
          <a:xfrm>
            <a:off x="7406640" y="4434840"/>
            <a:ext cx="4206240" cy="1463040"/>
          </a:xfrm>
          <a:prstGeom prst="roundRect">
            <a:avLst>
              <a:gd name="adj" fmla="val 5000"/>
            </a:avLst>
          </a:prstGeom>
          <a:solidFill>
            <a:srgbClr val="FDF6E6"/>
          </a:solidFill>
          <a:ln w="12700">
            <a:solidFill>
              <a:srgbClr val="DDE3EC"/>
            </a:solidFill>
            <a:prstDash val="solid"/>
          </a:ln>
        </p:spPr>
      </p:sp>
      <p:sp>
        <p:nvSpPr>
          <p:cNvPr id="9" name="Text 7"/>
          <p:cNvSpPr txBox="1"/>
          <p:nvPr/>
        </p:nvSpPr>
        <p:spPr>
          <a:xfrm>
            <a:off x="7635240" y="4572000"/>
            <a:ext cx="3749040" cy="256032"/>
          </a:xfrm>
          <a:prstGeom prst="rect">
            <a:avLst/>
          </a:prstGeom>
          <a:noFill/>
          <a:ln/>
        </p:spPr>
        <p:txBody>
          <a:bodyPr wrap="square" lIns="0" tIns="0" rIns="0" bIns="0" rtlCol="0" anchor="ctr"/>
          <a:lstStyle/>
          <a:p>
            <a:pPr indent="0" marL="0">
              <a:buNone/>
            </a:pPr>
            <a:r>
              <a:rPr lang="en-US" sz="1050" b="1" spc="150" kern="0" dirty="0">
                <a:solidFill>
                  <a:srgbClr val="A4161A"/>
                </a:solidFill>
                <a:latin typeface="Calibri" pitchFamily="34" charset="0"/>
                <a:ea typeface="Calibri" pitchFamily="34" charset="-122"/>
                <a:cs typeface="Calibri" pitchFamily="34" charset="-120"/>
              </a:rPr>
              <a:t>Data note</a:t>
            </a:r>
            <a:endParaRPr lang="en-US" sz="1050" dirty="0"/>
          </a:p>
        </p:txBody>
      </p:sp>
      <p:sp>
        <p:nvSpPr>
          <p:cNvPr id="10" name="Text 8"/>
          <p:cNvSpPr txBox="1"/>
          <p:nvPr/>
        </p:nvSpPr>
        <p:spPr>
          <a:xfrm>
            <a:off x="7635240" y="4864608"/>
            <a:ext cx="3749040" cy="86868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Figures on this and later slides are computed by our own analysis of the full dataset [12] unless a reference is shown.</a:t>
            </a:r>
            <a:endParaRPr lang="en-US" sz="1250" dirty="0"/>
          </a:p>
        </p:txBody>
      </p:sp>
      <p:sp>
        <p:nvSpPr>
          <p:cNvPr id="11" name="Text 9"/>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2" name="Text 10"/>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pic>
        <p:nvPicPr>
          <p:cNvPr id="13" name="Picture 12" descr="f_class.png"/>
          <p:cNvPicPr>
            <a:picLocks noChangeAspect="1"/>
          </p:cNvPicPr>
          <p:nvPr/>
        </p:nvPicPr>
        <p:blipFill>
          <a:blip r:embed="rId3"/>
          <a:stretch>
            <a:fillRect/>
          </a:stretch>
        </p:blipFill>
        <p:spPr>
          <a:xfrm>
            <a:off x="7724662" y="1481328"/>
            <a:ext cx="3570194" cy="2697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Problem Statement &amp; Motivation</a:t>
            </a:r>
            <a:endParaRPr lang="en-US" sz="3100" dirty="0"/>
          </a:p>
        </p:txBody>
      </p:sp>
      <p:sp>
        <p:nvSpPr>
          <p:cNvPr id="4" name="Shape 2"/>
          <p:cNvSpPr/>
          <p:nvPr/>
        </p:nvSpPr>
        <p:spPr>
          <a:xfrm>
            <a:off x="548640" y="1417320"/>
            <a:ext cx="11064240" cy="1600200"/>
          </a:xfrm>
          <a:prstGeom prst="roundRect">
            <a:avLst>
              <a:gd name="adj" fmla="val 4571"/>
            </a:avLst>
          </a:prstGeom>
          <a:solidFill>
            <a:srgbClr val="F7EAEA"/>
          </a:solidFill>
          <a:ln w="12700">
            <a:solidFill>
              <a:srgbClr val="DDE3EC"/>
            </a:solidFill>
            <a:prstDash val="solid"/>
          </a:ln>
        </p:spPr>
      </p:sp>
      <p:sp>
        <p:nvSpPr>
          <p:cNvPr id="5" name="Shape 3"/>
          <p:cNvSpPr/>
          <p:nvPr/>
        </p:nvSpPr>
        <p:spPr>
          <a:xfrm>
            <a:off x="548640" y="1417320"/>
            <a:ext cx="109728" cy="1600200"/>
          </a:xfrm>
          <a:prstGeom prst="roundRect">
            <a:avLst>
              <a:gd name="adj" fmla="val 41667"/>
            </a:avLst>
          </a:prstGeom>
          <a:solidFill>
            <a:srgbClr val="A4161A"/>
          </a:solidFill>
          <a:ln w="12700">
            <a:solidFill>
              <a:srgbClr val="A4161A"/>
            </a:solidFill>
            <a:prstDash val="solid"/>
          </a:ln>
        </p:spPr>
      </p:sp>
      <p:sp>
        <p:nvSpPr>
          <p:cNvPr id="6" name="Text 4"/>
          <p:cNvSpPr txBox="1"/>
          <p:nvPr/>
        </p:nvSpPr>
        <p:spPr>
          <a:xfrm>
            <a:off x="914400" y="1627632"/>
            <a:ext cx="10424160" cy="256032"/>
          </a:xfrm>
          <a:prstGeom prst="rect">
            <a:avLst/>
          </a:prstGeom>
          <a:noFill/>
          <a:ln/>
        </p:spPr>
        <p:txBody>
          <a:bodyPr wrap="square" lIns="0" tIns="0" rIns="0" bIns="0" rtlCol="0" anchor="ctr"/>
          <a:lstStyle/>
          <a:p>
            <a:pPr indent="0" marL="0">
              <a:buNone/>
            </a:pPr>
            <a:r>
              <a:rPr lang="en-US" sz="1050" b="1" spc="200" kern="0" dirty="0">
                <a:solidFill>
                  <a:srgbClr val="A4161A"/>
                </a:solidFill>
                <a:latin typeface="Calibri" pitchFamily="34" charset="0"/>
                <a:ea typeface="Calibri" pitchFamily="34" charset="-122"/>
                <a:cs typeface="Calibri" pitchFamily="34" charset="-120"/>
              </a:rPr>
              <a:t>PROBLEM STATEMENT</a:t>
            </a:r>
            <a:endParaRPr lang="en-US" sz="1050" dirty="0"/>
          </a:p>
        </p:txBody>
      </p:sp>
      <p:sp>
        <p:nvSpPr>
          <p:cNvPr id="7" name="Text 5"/>
          <p:cNvSpPr txBox="1"/>
          <p:nvPr/>
        </p:nvSpPr>
        <p:spPr>
          <a:xfrm>
            <a:off x="914400" y="1920240"/>
            <a:ext cx="10424160" cy="914400"/>
          </a:xfrm>
          <a:prstGeom prst="rect">
            <a:avLst/>
          </a:prstGeom>
          <a:noFill/>
          <a:ln/>
        </p:spPr>
        <p:txBody>
          <a:bodyPr wrap="square" lIns="0" tIns="0" rIns="0" bIns="0" rtlCol="0" anchor="ctr"/>
          <a:lstStyle/>
          <a:p>
            <a:pPr indent="0" marL="0">
              <a:buNone/>
            </a:pPr>
            <a:r>
              <a:rPr lang="en-US" sz="1800" b="1" dirty="0">
                <a:solidFill>
                  <a:srgbClr val="1B2A55"/>
                </a:solidFill>
                <a:latin typeface="Cambria" pitchFamily="34" charset="0"/>
                <a:ea typeface="Cambria" pitchFamily="34" charset="-122"/>
                <a:cs typeface="Cambria" pitchFamily="34" charset="-120"/>
              </a:rPr>
              <a:t>" Existing attrition models report accuracy on an 84:16 imbalanced dataset and act as black boxes, so at-risk employees are missed and retention actions are not targeted. "</a:t>
            </a:r>
            <a:endParaRPr lang="en-US" sz="2000" dirty="0"/>
          </a:p>
        </p:txBody>
      </p:sp>
      <p:sp>
        <p:nvSpPr>
          <p:cNvPr id="8" name="Shape 6"/>
          <p:cNvSpPr/>
          <p:nvPr/>
        </p:nvSpPr>
        <p:spPr>
          <a:xfrm>
            <a:off x="548640" y="3291840"/>
            <a:ext cx="3520440" cy="2606040"/>
          </a:xfrm>
          <a:prstGeom prst="roundRect">
            <a:avLst>
              <a:gd name="adj" fmla="val 2807"/>
            </a:avLst>
          </a:prstGeom>
          <a:solidFill>
            <a:srgbClr val="F1F4F9"/>
          </a:solidFill>
          <a:ln w="12700">
            <a:solidFill>
              <a:srgbClr val="DDE3EC"/>
            </a:solidFill>
            <a:prstDash val="solid"/>
          </a:ln>
        </p:spPr>
      </p:sp>
      <p:sp>
        <p:nvSpPr>
          <p:cNvPr id="9" name="Shape 7"/>
          <p:cNvSpPr/>
          <p:nvPr/>
        </p:nvSpPr>
        <p:spPr>
          <a:xfrm>
            <a:off x="777240" y="3520440"/>
            <a:ext cx="384048" cy="384048"/>
          </a:xfrm>
          <a:prstGeom prst="ellipse">
            <a:avLst/>
          </a:prstGeom>
          <a:solidFill>
            <a:srgbClr val="C8A02C"/>
          </a:solidFill>
          <a:ln/>
        </p:spPr>
      </p:sp>
      <p:sp>
        <p:nvSpPr>
          <p:cNvPr id="10" name="Text 8"/>
          <p:cNvSpPr txBox="1"/>
          <p:nvPr/>
        </p:nvSpPr>
        <p:spPr>
          <a:xfrm>
            <a:off x="77724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77240" y="4023360"/>
            <a:ext cx="3063240" cy="457200"/>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Who is affected?</a:t>
            </a:r>
            <a:endParaRPr lang="en-US" sz="1500" dirty="0"/>
          </a:p>
        </p:txBody>
      </p:sp>
      <p:sp>
        <p:nvSpPr>
          <p:cNvPr id="12" name="Text 10"/>
          <p:cNvSpPr txBox="1"/>
          <p:nvPr/>
        </p:nvSpPr>
        <p:spPr>
          <a:xfrm>
            <a:off x="777240" y="4526280"/>
            <a:ext cx="3063240" cy="123444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HR teams, and the managers and employees in high-turnover roles (e.g. 39.8% attrition among Sales Representatives).</a:t>
            </a:r>
            <a:endParaRPr lang="en-US" sz="1250" dirty="0"/>
          </a:p>
        </p:txBody>
      </p:sp>
      <p:sp>
        <p:nvSpPr>
          <p:cNvPr id="13" name="Shape 11"/>
          <p:cNvSpPr/>
          <p:nvPr/>
        </p:nvSpPr>
        <p:spPr>
          <a:xfrm>
            <a:off x="4297680" y="3291840"/>
            <a:ext cx="3520440" cy="2606040"/>
          </a:xfrm>
          <a:prstGeom prst="roundRect">
            <a:avLst>
              <a:gd name="adj" fmla="val 2807"/>
            </a:avLst>
          </a:prstGeom>
          <a:solidFill>
            <a:srgbClr val="F1F4F9"/>
          </a:solidFill>
          <a:ln w="12700">
            <a:solidFill>
              <a:srgbClr val="DDE3EC"/>
            </a:solidFill>
            <a:prstDash val="solid"/>
          </a:ln>
        </p:spPr>
      </p:sp>
      <p:sp>
        <p:nvSpPr>
          <p:cNvPr id="14" name="Shape 12"/>
          <p:cNvSpPr/>
          <p:nvPr/>
        </p:nvSpPr>
        <p:spPr>
          <a:xfrm>
            <a:off x="4526280" y="3520440"/>
            <a:ext cx="384048" cy="384048"/>
          </a:xfrm>
          <a:prstGeom prst="ellipse">
            <a:avLst/>
          </a:prstGeom>
          <a:solidFill>
            <a:srgbClr val="C8A02C"/>
          </a:solidFill>
          <a:ln/>
        </p:spPr>
      </p:sp>
      <p:sp>
        <p:nvSpPr>
          <p:cNvPr id="15" name="Text 13"/>
          <p:cNvSpPr txBox="1"/>
          <p:nvPr/>
        </p:nvSpPr>
        <p:spPr>
          <a:xfrm>
            <a:off x="452628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4526280" y="4023360"/>
            <a:ext cx="3063240" cy="457200"/>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What is the cost of the problem?</a:t>
            </a:r>
            <a:endParaRPr lang="en-US" sz="1500" dirty="0"/>
          </a:p>
        </p:txBody>
      </p:sp>
      <p:sp>
        <p:nvSpPr>
          <p:cNvPr id="17" name="Text 15"/>
          <p:cNvSpPr txBox="1"/>
          <p:nvPr/>
        </p:nvSpPr>
        <p:spPr>
          <a:xfrm>
            <a:off x="4526280" y="4526280"/>
            <a:ext cx="3063240" cy="123444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16.1% of employees left (237 of 1,470). A model that always says "stays" scores 84% accuracy yet finds no leavers.</a:t>
            </a:r>
            <a:endParaRPr lang="en-US" sz="1250" dirty="0"/>
          </a:p>
        </p:txBody>
      </p:sp>
      <p:sp>
        <p:nvSpPr>
          <p:cNvPr id="18" name="Shape 16"/>
          <p:cNvSpPr/>
          <p:nvPr/>
        </p:nvSpPr>
        <p:spPr>
          <a:xfrm>
            <a:off x="8046720" y="3291840"/>
            <a:ext cx="3520440" cy="2606040"/>
          </a:xfrm>
          <a:prstGeom prst="roundRect">
            <a:avLst>
              <a:gd name="adj" fmla="val 2807"/>
            </a:avLst>
          </a:prstGeom>
          <a:solidFill>
            <a:srgbClr val="F1F4F9"/>
          </a:solidFill>
          <a:ln w="12700">
            <a:solidFill>
              <a:srgbClr val="DDE3EC"/>
            </a:solidFill>
            <a:prstDash val="solid"/>
          </a:ln>
        </p:spPr>
      </p:sp>
      <p:sp>
        <p:nvSpPr>
          <p:cNvPr id="19" name="Shape 17"/>
          <p:cNvSpPr/>
          <p:nvPr/>
        </p:nvSpPr>
        <p:spPr>
          <a:xfrm>
            <a:off x="8275320" y="3520440"/>
            <a:ext cx="384048" cy="384048"/>
          </a:xfrm>
          <a:prstGeom prst="ellipse">
            <a:avLst/>
          </a:prstGeom>
          <a:solidFill>
            <a:srgbClr val="C8A02C"/>
          </a:solidFill>
          <a:ln/>
        </p:spPr>
      </p:sp>
      <p:sp>
        <p:nvSpPr>
          <p:cNvPr id="20" name="Text 18"/>
          <p:cNvSpPr txBox="1"/>
          <p:nvPr/>
        </p:nvSpPr>
        <p:spPr>
          <a:xfrm>
            <a:off x="827532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275320" y="4023360"/>
            <a:ext cx="3063240" cy="457200"/>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Why solve it now?</a:t>
            </a:r>
            <a:endParaRPr lang="en-US" sz="1500" dirty="0"/>
          </a:p>
        </p:txBody>
      </p:sp>
      <p:sp>
        <p:nvSpPr>
          <p:cNvPr id="22" name="Text 20"/>
          <p:cNvSpPr txBox="1"/>
          <p:nvPr/>
        </p:nvSpPr>
        <p:spPr>
          <a:xfrm>
            <a:off x="8275320" y="4526280"/>
            <a:ext cx="3063240" cy="123444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SHAP is mature, and recent work [1], [2] calls for transparent, human-in-the-loop HR analytics rather than black-box scores.</a:t>
            </a:r>
            <a:endParaRPr lang="en-US" sz="1250" dirty="0"/>
          </a:p>
        </p:txBody>
      </p:sp>
      <p:sp>
        <p:nvSpPr>
          <p:cNvPr id="23" name="Text 2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4" name="Text 22"/>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3</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Literature Survey</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8 papers studied (2022 onwards, journals / conferences); the 5 most relevant are shown, all 8 are in References.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931920"/>
        </p:xfrm>
        <a:graphic>
          <a:graphicData uri="http://schemas.openxmlformats.org/drawingml/2006/table">
            <a:tbl>
              <a:tblPr/>
              <a:tblGrid>
                <a:gridCol w="548640"/>
                <a:gridCol w="1554480"/>
                <a:gridCol w="2743200"/>
                <a:gridCol w="1737360"/>
                <a:gridCol w="2286000"/>
                <a:gridCol w="2194560"/>
              </a:tblGrid>
              <a:tr h="365760">
                <a:tc>
                  <a:txBody>
                    <a:bodyPr/>
                    <a:lstStyle/>
                    <a:p>
                      <a:pPr indent="0" marL="0">
                        <a:buNone/>
                      </a:pPr>
                      <a:r>
                        <a:rPr lang="en-US" sz="1050" b="1" dirty="0">
                          <a:solidFill>
                            <a:srgbClr val="1F2430"/>
                          </a:solidFill>
                          <a:latin typeface="Calibri" pitchFamily="34" charset="0"/>
                          <a:ea typeface="Calibri" pitchFamily="34" charset="-122"/>
                          <a:cs typeface="Calibri" pitchFamily="34" charset="-120"/>
                        </a:rPr>
                        <a:t>S.No</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2430"/>
                          </a:solidFill>
                          <a:latin typeface="Calibri" pitchFamily="34" charset="0"/>
                          <a:ea typeface="Calibri" pitchFamily="34" charset="-122"/>
                          <a:cs typeface="Calibri" pitchFamily="34" charset="-120"/>
                        </a:rPr>
                        <a:t>Author &amp; Year</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2430"/>
                          </a:solidFill>
                          <a:latin typeface="Calibri" pitchFamily="34" charset="0"/>
                          <a:ea typeface="Calibri" pitchFamily="34" charset="-122"/>
                          <a:cs typeface="Calibri" pitchFamily="34" charset="-120"/>
                        </a:rPr>
                        <a:t>Title / Technique Used</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2430"/>
                          </a:solidFill>
                          <a:latin typeface="Calibri" pitchFamily="34" charset="0"/>
                          <a:ea typeface="Calibri" pitchFamily="34" charset="-122"/>
                          <a:cs typeface="Calibri" pitchFamily="34" charset="-120"/>
                        </a:rPr>
                        <a:t>Dataset / Tools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2430"/>
                          </a:solidFill>
                          <a:latin typeface="Calibri" pitchFamily="34" charset="0"/>
                          <a:ea typeface="Calibri" pitchFamily="34" charset="-122"/>
                          <a:cs typeface="Calibri" pitchFamily="34" charset="-120"/>
                        </a:rPr>
                        <a:t>Key Findings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b="1" dirty="0">
                          <a:solidFill>
                            <a:srgbClr val="1F2430"/>
                          </a:solidFill>
                          <a:latin typeface="Calibri" pitchFamily="34" charset="0"/>
                          <a:ea typeface="Calibri" pitchFamily="34" charset="-122"/>
                          <a:cs typeface="Calibri" pitchFamily="34" charset="-120"/>
                        </a:rPr>
                        <a:t>Limitation / Gap</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Alyousef et al. (2026) [1]</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Soft-voting ensemble (LR, RF, XGBoost) with SMOTE/ADASYN; SHAP</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IBM HR, 1,470 rows; scikit-learn</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LR best F1 0.50 and recall 0.64; XGBoost AUC 0.80</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Single 80/20 split, no k-fold CV; only global SHAP shown</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Ansari et al. (2026) [2]</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AI-based MIS: LR, RF, MLP, XGBoost + SHAP; SMOTE inside CV folds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IBM HR (as described by authors); 5-fold CV</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Leakage-safe pipeline with feature-level SHAP transparency</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Real-time deployment and HR user studies left as future work</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Mohiuddin et al. (2023) [3]</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HR-DSS: 8 ML models + explainable AI and what-if analysis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Employee attrition data</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Changing an individual's dominant features can flip attrition to retention</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Per-employee what-if focus; no workforce-level driver ranking in abstract</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Raza et al. (2022) [4]</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Optimised Extra Trees with EDA</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IBM HR</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93% accuracy (as summarised in [1]); income, job level, age key</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Accuracy emphasised despite 84:16 imbalance</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13232">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Chung et al. (2023) [5]</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Stacking ensemble; six ML models compared</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IBM HR</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~98% accuracy for gradient boosting (as summarised in [1])</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Calibri" pitchFamily="34" charset="0"/>
                          <a:ea typeface="Calibri" pitchFamily="34" charset="-122"/>
                          <a:cs typeface="Calibri" pitchFamily="34" charset="-120"/>
                        </a:rPr>
                        <a:t>Accuracy-driven; little on explaining single predictions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050" b="1" i="1" dirty="0">
                <a:solidFill>
                  <a:srgbClr val="A4161A"/>
                </a:solidFill>
                <a:latin typeface="Calibri" pitchFamily="34" charset="0"/>
                <a:ea typeface="Calibri" pitchFamily="34" charset="-122"/>
                <a:cs typeface="Calibri" pitchFamily="34" charset="-120"/>
              </a:rPr>
              <a:t>Gap column is our reading of each paper's scope; figures are from abstracts or as summarised in [1]. The last column drives the research gap.</a:t>
            </a:r>
            <a:endParaRPr lang="en-US" sz="1250" dirty="0"/>
          </a:p>
        </p:txBody>
      </p:sp>
      <p:sp>
        <p:nvSpPr>
          <p:cNvPr id="7"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8" name="Text 5"/>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4</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Research Gap Identified</a:t>
            </a:r>
            <a:endParaRPr lang="en-US" sz="3100" dirty="0"/>
          </a:p>
        </p:txBody>
      </p:sp>
      <p:sp>
        <p:nvSpPr>
          <p:cNvPr id="4" name="Shape 2"/>
          <p:cNvSpPr/>
          <p:nvPr/>
        </p:nvSpPr>
        <p:spPr>
          <a:xfrm>
            <a:off x="548640" y="1463040"/>
            <a:ext cx="6766560" cy="987552"/>
          </a:xfrm>
          <a:prstGeom prst="roundRect">
            <a:avLst>
              <a:gd name="adj" fmla="val 7407"/>
            </a:avLst>
          </a:prstGeom>
          <a:solidFill>
            <a:srgbClr val="F1F4F9"/>
          </a:solidFill>
          <a:ln w="12700">
            <a:solidFill>
              <a:srgbClr val="DDE3EC"/>
            </a:solidFill>
            <a:prstDash val="solid"/>
          </a:ln>
        </p:spPr>
      </p:sp>
      <p:sp>
        <p:nvSpPr>
          <p:cNvPr id="5" name="Text 3"/>
          <p:cNvSpPr txBox="1"/>
          <p:nvPr/>
        </p:nvSpPr>
        <p:spPr>
          <a:xfrm>
            <a:off x="868680" y="1591056"/>
            <a:ext cx="1828800" cy="237744"/>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GAP 1</a:t>
            </a:r>
            <a:endParaRPr lang="en-US" sz="1000" dirty="0"/>
          </a:p>
        </p:txBody>
      </p:sp>
      <p:sp>
        <p:nvSpPr>
          <p:cNvPr id="6" name="Text 4"/>
          <p:cNvSpPr txBox="1"/>
          <p:nvPr/>
        </p:nvSpPr>
        <p:spPr>
          <a:xfrm>
            <a:off x="868680" y="1847088"/>
            <a:ext cx="6172200" cy="50292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Existing work does not consistently report recall alongside accuracy; headline accuracy (93-98% [4], [5]) is inflated by the 84:16 imbalance.</a:t>
            </a:r>
            <a:endParaRPr lang="en-US" sz="1350" dirty="0"/>
          </a:p>
        </p:txBody>
      </p:sp>
      <p:sp>
        <p:nvSpPr>
          <p:cNvPr id="7" name="Shape 5"/>
          <p:cNvSpPr/>
          <p:nvPr/>
        </p:nvSpPr>
        <p:spPr>
          <a:xfrm>
            <a:off x="548640" y="2606040"/>
            <a:ext cx="6766560" cy="987552"/>
          </a:xfrm>
          <a:prstGeom prst="roundRect">
            <a:avLst>
              <a:gd name="adj" fmla="val 7407"/>
            </a:avLst>
          </a:prstGeom>
          <a:solidFill>
            <a:srgbClr val="F1F4F9"/>
          </a:solidFill>
          <a:ln w="12700">
            <a:solidFill>
              <a:srgbClr val="DDE3EC"/>
            </a:solidFill>
            <a:prstDash val="solid"/>
          </a:ln>
        </p:spPr>
      </p:sp>
      <p:sp>
        <p:nvSpPr>
          <p:cNvPr id="8" name="Text 6"/>
          <p:cNvSpPr txBox="1"/>
          <p:nvPr/>
        </p:nvSpPr>
        <p:spPr>
          <a:xfrm>
            <a:off x="868680" y="2734056"/>
            <a:ext cx="1828800" cy="237744"/>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GAP 2</a:t>
            </a:r>
            <a:endParaRPr lang="en-US" sz="1000" dirty="0"/>
          </a:p>
        </p:txBody>
      </p:sp>
      <p:sp>
        <p:nvSpPr>
          <p:cNvPr id="9" name="Text 7"/>
          <p:cNvSpPr txBox="1"/>
          <p:nvPr/>
        </p:nvSpPr>
        <p:spPr>
          <a:xfrm>
            <a:off x="868680" y="2990088"/>
            <a:ext cx="6172200" cy="50292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Existing work does not pair an interpretable baseline with a SHAP-explained ensemble under cross-validation; single splits and global-only SHAP [1].</a:t>
            </a:r>
            <a:endParaRPr lang="en-US" sz="1350" dirty="0"/>
          </a:p>
        </p:txBody>
      </p:sp>
      <p:sp>
        <p:nvSpPr>
          <p:cNvPr id="10" name="Shape 8"/>
          <p:cNvSpPr/>
          <p:nvPr/>
        </p:nvSpPr>
        <p:spPr>
          <a:xfrm>
            <a:off x="548640" y="3749040"/>
            <a:ext cx="6766560" cy="987552"/>
          </a:xfrm>
          <a:prstGeom prst="roundRect">
            <a:avLst>
              <a:gd name="adj" fmla="val 7407"/>
            </a:avLst>
          </a:prstGeom>
          <a:solidFill>
            <a:srgbClr val="F1F4F9"/>
          </a:solidFill>
          <a:ln w="12700">
            <a:solidFill>
              <a:srgbClr val="DDE3EC"/>
            </a:solidFill>
            <a:prstDash val="solid"/>
          </a:ln>
        </p:spPr>
      </p:sp>
      <p:sp>
        <p:nvSpPr>
          <p:cNvPr id="11" name="Text 9"/>
          <p:cNvSpPr txBox="1"/>
          <p:nvPr/>
        </p:nvSpPr>
        <p:spPr>
          <a:xfrm>
            <a:off x="868680" y="3877056"/>
            <a:ext cx="1828800" cy="237744"/>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GAP 3</a:t>
            </a:r>
            <a:endParaRPr lang="en-US" sz="1000" dirty="0"/>
          </a:p>
        </p:txBody>
      </p:sp>
      <p:sp>
        <p:nvSpPr>
          <p:cNvPr id="12" name="Text 10"/>
          <p:cNvSpPr txBox="1"/>
          <p:nvPr/>
        </p:nvSpPr>
        <p:spPr>
          <a:xfrm>
            <a:off x="868680" y="4133088"/>
            <a:ext cx="6172200" cy="50292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Existing work does not turn per-employee drivers into concrete HR actions; deployment and practitioner use remain future work [2], [3].</a:t>
            </a:r>
            <a:endParaRPr lang="en-US" sz="1350" dirty="0"/>
          </a:p>
        </p:txBody>
      </p:sp>
      <p:sp>
        <p:nvSpPr>
          <p:cNvPr id="13" name="Shape 11"/>
          <p:cNvSpPr/>
          <p:nvPr/>
        </p:nvSpPr>
        <p:spPr>
          <a:xfrm>
            <a:off x="7635240" y="1463040"/>
            <a:ext cx="3977640" cy="3502152"/>
          </a:xfrm>
          <a:prstGeom prst="roundRect">
            <a:avLst>
              <a:gd name="adj" fmla="val 2089"/>
            </a:avLst>
          </a:prstGeom>
          <a:solidFill>
            <a:srgbClr val="1B2A55"/>
          </a:solidFill>
          <a:ln w="12700">
            <a:solidFill>
              <a:srgbClr val="1B2A55"/>
            </a:solidFill>
            <a:prstDash val="solid"/>
          </a:ln>
        </p:spPr>
      </p:sp>
      <p:sp>
        <p:nvSpPr>
          <p:cNvPr id="14" name="Text 12"/>
          <p:cNvSpPr txBox="1"/>
          <p:nvPr/>
        </p:nvSpPr>
        <p:spPr>
          <a:xfrm>
            <a:off x="7909560" y="1691640"/>
            <a:ext cx="3429000" cy="274320"/>
          </a:xfrm>
          <a:prstGeom prst="rect">
            <a:avLst/>
          </a:prstGeom>
          <a:noFill/>
          <a:ln/>
        </p:spPr>
        <p:txBody>
          <a:bodyPr wrap="square" lIns="0" tIns="0" rIns="0" bIns="0" rtlCol="0" anchor="ctr"/>
          <a:lstStyle/>
          <a:p>
            <a:pPr indent="0" marL="0">
              <a:buNone/>
            </a:pPr>
            <a:r>
              <a:rPr lang="en-US" sz="1050" b="1" spc="150" kern="0" dirty="0">
                <a:solidFill>
                  <a:srgbClr val="C8A02C"/>
                </a:solidFill>
                <a:latin typeface="Calibri" pitchFamily="34" charset="0"/>
                <a:ea typeface="Calibri" pitchFamily="34" charset="-122"/>
                <a:cs typeface="Calibri" pitchFamily="34" charset="-120"/>
              </a:rPr>
              <a:t>OUR PROJECT ADDRESSES</a:t>
            </a:r>
            <a:endParaRPr lang="en-US" sz="1050" dirty="0"/>
          </a:p>
        </p:txBody>
      </p:sp>
      <p:sp>
        <p:nvSpPr>
          <p:cNvPr id="15" name="Text 13"/>
          <p:cNvSpPr txBox="1"/>
          <p:nvPr/>
        </p:nvSpPr>
        <p:spPr>
          <a:xfrm>
            <a:off x="7909560" y="2057400"/>
            <a:ext cx="3429000" cy="1463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We close Gaps 1 and 2 and part of Gap 3: recall-centred LR vs RF with 5-fold CV, SHAP global + individual explanations mapped to HR actions.</a:t>
            </a:r>
            <a:endParaRPr lang="en-US" sz="1800" dirty="0"/>
          </a:p>
        </p:txBody>
      </p:sp>
      <p:sp>
        <p:nvSpPr>
          <p:cNvPr id="16" name="Text 14"/>
          <p:cNvSpPr txBox="1"/>
          <p:nvPr/>
        </p:nvSpPr>
        <p:spPr>
          <a:xfrm>
            <a:off x="7909560" y="3977640"/>
            <a:ext cx="3429000" cy="822960"/>
          </a:xfrm>
          <a:prstGeom prst="rect">
            <a:avLst/>
          </a:prstGeom>
          <a:noFill/>
          <a:ln/>
        </p:spPr>
        <p:txBody>
          <a:bodyPr wrap="square" lIns="0" tIns="0" rIns="0" bIns="0" rtlCol="0" anchor="ctr"/>
          <a:lstStyle/>
          <a:p>
            <a:pPr indent="0" marL="0">
              <a:buNone/>
            </a:pPr>
            <a:r>
              <a:rPr lang="en-US" sz="1200" i="1" dirty="0">
                <a:solidFill>
                  <a:srgbClr val="AEBBD6"/>
                </a:solidFill>
                <a:latin typeface="Calibri" pitchFamily="34" charset="0"/>
                <a:ea typeface="Calibri" pitchFamily="34" charset="-122"/>
                <a:cs typeface="Calibri" pitchFamily="34" charset="-120"/>
              </a:rPr>
              <a:t>A risk dashboard for HR users is deliberately left as future scope.</a:t>
            </a:r>
            <a:endParaRPr lang="en-US" sz="1200" dirty="0"/>
          </a:p>
        </p:txBody>
      </p:sp>
      <p:sp>
        <p:nvSpPr>
          <p:cNvPr id="17" name="Text 15"/>
          <p:cNvSpPr txBox="1"/>
          <p:nvPr/>
        </p:nvSpPr>
        <p:spPr>
          <a:xfrm>
            <a:off x="548640" y="5120640"/>
            <a:ext cx="6766560" cy="7315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Each gap traces to the last column of the literature survey (rows 1-5).</a:t>
            </a:r>
            <a:endParaRPr lang="en-US" sz="1250" dirty="0"/>
          </a:p>
        </p:txBody>
      </p:sp>
      <p:sp>
        <p:nvSpPr>
          <p:cNvPr id="18" name="Text 1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9" name="Text 17"/>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5</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Objectives of the Project</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Four objectives, each demonstrated by the final review.</a:t>
            </a:r>
            <a:endParaRPr lang="en-US" sz="1050" dirty="0"/>
          </a:p>
        </p:txBody>
      </p:sp>
      <p:sp>
        <p:nvSpPr>
          <p:cNvPr id="5" name="Shape 3"/>
          <p:cNvSpPr/>
          <p:nvPr/>
        </p:nvSpPr>
        <p:spPr>
          <a:xfrm>
            <a:off x="548640" y="1627632"/>
            <a:ext cx="11064240" cy="914400"/>
          </a:xfrm>
          <a:prstGeom prst="roundRect">
            <a:avLst>
              <a:gd name="adj" fmla="val 8000"/>
            </a:avLst>
          </a:prstGeom>
          <a:solidFill>
            <a:srgbClr val="F1F4F9"/>
          </a:solidFill>
          <a:ln w="12700">
            <a:solidFill>
              <a:srgbClr val="DDE3EC"/>
            </a:solidFill>
            <a:prstDash val="solid"/>
          </a:ln>
        </p:spPr>
      </p:sp>
      <p:sp>
        <p:nvSpPr>
          <p:cNvPr id="6" name="Shape 4"/>
          <p:cNvSpPr/>
          <p:nvPr/>
        </p:nvSpPr>
        <p:spPr>
          <a:xfrm>
            <a:off x="822960" y="1892808"/>
            <a:ext cx="384048" cy="384048"/>
          </a:xfrm>
          <a:prstGeom prst="ellipse">
            <a:avLst/>
          </a:prstGeom>
          <a:solidFill>
            <a:srgbClr val="C8A02C"/>
          </a:solidFill>
          <a:ln/>
        </p:spPr>
      </p:sp>
      <p:sp>
        <p:nvSpPr>
          <p:cNvPr id="7" name="Text 5"/>
          <p:cNvSpPr txBox="1"/>
          <p:nvPr/>
        </p:nvSpPr>
        <p:spPr>
          <a:xfrm>
            <a:off x="822960" y="189280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1627632"/>
            <a:ext cx="9966960" cy="914400"/>
          </a:xfrm>
          <a:prstGeom prst="rect">
            <a:avLst/>
          </a:prstGeom>
          <a:noFill/>
          <a:ln/>
        </p:spPr>
        <p:txBody>
          <a:bodyPr wrap="square" lIns="0" tIns="0" rIns="0" bIns="0" rtlCol="0" anchor="ctr"/>
          <a:lstStyle/>
          <a:p>
            <a:pPr indent="0" marL="0">
              <a:buNone/>
            </a:pPr>
            <a:r>
              <a:rPr lang="en-US" sz="1450" b="1" dirty="0">
                <a:solidFill>
                  <a:srgbClr val="1B2A55"/>
                </a:solidFill>
                <a:latin typeface="Calibri" pitchFamily="34" charset="0"/>
                <a:ea typeface="Calibri" pitchFamily="34" charset="-122"/>
                <a:cs typeface="Calibri" pitchFamily="34" charset="-120"/>
              </a:rPr>
              <a:t>To collect and prepare </a:t>
            </a:r>
            <a:pPr indent="0" marL="0">
              <a:buNone/>
            </a:pPr>
            <a:r>
              <a:rPr lang="en-US" sz="1450" dirty="0">
                <a:solidFill>
                  <a:srgbClr val="1F2430"/>
                </a:solidFill>
                <a:latin typeface="Calibri" pitchFamily="34" charset="0"/>
                <a:ea typeface="Calibri" pitchFamily="34" charset="-122"/>
                <a:cs typeface="Calibri" pitchFamily="34" charset="-120"/>
              </a:rPr>
              <a:t>the IBM HR Analytics dataset (1,470 employees, 35 attributes) and study attrition patterns through EDA.</a:t>
            </a:r>
            <a:endParaRPr lang="en-US" sz="1450" dirty="0"/>
          </a:p>
        </p:txBody>
      </p:sp>
      <p:sp>
        <p:nvSpPr>
          <p:cNvPr id="9" name="Shape 7"/>
          <p:cNvSpPr/>
          <p:nvPr/>
        </p:nvSpPr>
        <p:spPr>
          <a:xfrm>
            <a:off x="548640" y="2706624"/>
            <a:ext cx="11064240" cy="914400"/>
          </a:xfrm>
          <a:prstGeom prst="roundRect">
            <a:avLst>
              <a:gd name="adj" fmla="val 8000"/>
            </a:avLst>
          </a:prstGeom>
          <a:solidFill>
            <a:srgbClr val="F1F4F9"/>
          </a:solidFill>
          <a:ln w="12700">
            <a:solidFill>
              <a:srgbClr val="DDE3EC"/>
            </a:solidFill>
            <a:prstDash val="solid"/>
          </a:ln>
        </p:spPr>
      </p:sp>
      <p:sp>
        <p:nvSpPr>
          <p:cNvPr id="10" name="Shape 8"/>
          <p:cNvSpPr/>
          <p:nvPr/>
        </p:nvSpPr>
        <p:spPr>
          <a:xfrm>
            <a:off x="822960" y="2971800"/>
            <a:ext cx="384048" cy="384048"/>
          </a:xfrm>
          <a:prstGeom prst="ellipse">
            <a:avLst/>
          </a:prstGeom>
          <a:solidFill>
            <a:srgbClr val="C8A02C"/>
          </a:solidFill>
          <a:ln/>
        </p:spPr>
      </p:sp>
      <p:sp>
        <p:nvSpPr>
          <p:cNvPr id="11" name="Text 9"/>
          <p:cNvSpPr txBox="1"/>
          <p:nvPr/>
        </p:nvSpPr>
        <p:spPr>
          <a:xfrm>
            <a:off x="822960" y="297180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371600" y="2706624"/>
            <a:ext cx="9966960" cy="914400"/>
          </a:xfrm>
          <a:prstGeom prst="rect">
            <a:avLst/>
          </a:prstGeom>
          <a:noFill/>
          <a:ln/>
        </p:spPr>
        <p:txBody>
          <a:bodyPr wrap="square" lIns="0" tIns="0" rIns="0" bIns="0" rtlCol="0" anchor="ctr"/>
          <a:lstStyle/>
          <a:p>
            <a:pPr indent="0" marL="0">
              <a:buNone/>
            </a:pPr>
            <a:r>
              <a:rPr lang="en-US" sz="1450" b="1" dirty="0">
                <a:solidFill>
                  <a:srgbClr val="1B2A55"/>
                </a:solidFill>
                <a:latin typeface="Calibri" pitchFamily="34" charset="0"/>
                <a:ea typeface="Calibri" pitchFamily="34" charset="-122"/>
                <a:cs typeface="Calibri" pitchFamily="34" charset="-120"/>
              </a:rPr>
              <a:t>To design and implement </a:t>
            </a:r>
            <a:pPr indent="0" marL="0">
              <a:buNone/>
            </a:pPr>
            <a:r>
              <a:rPr lang="en-US" sz="1450" dirty="0">
                <a:solidFill>
                  <a:srgbClr val="1F2430"/>
                </a:solidFill>
                <a:latin typeface="Calibri" pitchFamily="34" charset="0"/>
                <a:ea typeface="Calibri" pitchFamily="34" charset="-122"/>
                <a:cs typeface="Calibri" pitchFamily="34" charset="-120"/>
              </a:rPr>
              <a:t>Logistic Regression and Random Forest classifiers with balanced class weights and a stratified 80/20 split.</a:t>
            </a:r>
            <a:endParaRPr lang="en-US" sz="1450" dirty="0"/>
          </a:p>
        </p:txBody>
      </p:sp>
      <p:sp>
        <p:nvSpPr>
          <p:cNvPr id="13" name="Shape 11"/>
          <p:cNvSpPr/>
          <p:nvPr/>
        </p:nvSpPr>
        <p:spPr>
          <a:xfrm>
            <a:off x="548640" y="3785616"/>
            <a:ext cx="11064240" cy="914400"/>
          </a:xfrm>
          <a:prstGeom prst="roundRect">
            <a:avLst>
              <a:gd name="adj" fmla="val 8000"/>
            </a:avLst>
          </a:prstGeom>
          <a:solidFill>
            <a:srgbClr val="F1F4F9"/>
          </a:solidFill>
          <a:ln w="12700">
            <a:solidFill>
              <a:srgbClr val="DDE3EC"/>
            </a:solidFill>
            <a:prstDash val="solid"/>
          </a:ln>
        </p:spPr>
      </p:sp>
      <p:sp>
        <p:nvSpPr>
          <p:cNvPr id="14" name="Shape 12"/>
          <p:cNvSpPr/>
          <p:nvPr/>
        </p:nvSpPr>
        <p:spPr>
          <a:xfrm>
            <a:off x="822960" y="4050792"/>
            <a:ext cx="384048" cy="384048"/>
          </a:xfrm>
          <a:prstGeom prst="ellipse">
            <a:avLst/>
          </a:prstGeom>
          <a:solidFill>
            <a:srgbClr val="C8A02C"/>
          </a:solidFill>
          <a:ln/>
        </p:spPr>
      </p:sp>
      <p:sp>
        <p:nvSpPr>
          <p:cNvPr id="15" name="Text 13"/>
          <p:cNvSpPr txBox="1"/>
          <p:nvPr/>
        </p:nvSpPr>
        <p:spPr>
          <a:xfrm>
            <a:off x="822960" y="405079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371600" y="3785616"/>
            <a:ext cx="9966960" cy="914400"/>
          </a:xfrm>
          <a:prstGeom prst="rect">
            <a:avLst/>
          </a:prstGeom>
          <a:noFill/>
          <a:ln/>
        </p:spPr>
        <p:txBody>
          <a:bodyPr wrap="square" lIns="0" tIns="0" rIns="0" bIns="0" rtlCol="0" anchor="ctr"/>
          <a:lstStyle/>
          <a:p>
            <a:pPr indent="0" marL="0">
              <a:buNone/>
            </a:pPr>
            <a:r>
              <a:rPr lang="en-US" sz="1450" b="1" dirty="0">
                <a:solidFill>
                  <a:srgbClr val="1B2A55"/>
                </a:solidFill>
                <a:latin typeface="Calibri" pitchFamily="34" charset="0"/>
                <a:ea typeface="Calibri" pitchFamily="34" charset="-122"/>
                <a:cs typeface="Calibri" pitchFamily="34" charset="-120"/>
              </a:rPr>
              <a:t>To evaluate </a:t>
            </a:r>
            <a:pPr indent="0" marL="0">
              <a:buNone/>
            </a:pPr>
            <a:r>
              <a:rPr lang="en-US" sz="1450" dirty="0">
                <a:solidFill>
                  <a:srgbClr val="1F2430"/>
                </a:solidFill>
                <a:latin typeface="Calibri" pitchFamily="34" charset="0"/>
                <a:ea typeface="Calibri" pitchFamily="34" charset="-122"/>
                <a:cs typeface="Calibri" pitchFamily="34" charset="-120"/>
              </a:rPr>
              <a:t>both models using accuracy, precision, recall, F1-score and ROC-AUC, with priority on recall for leavers.</a:t>
            </a:r>
            <a:endParaRPr lang="en-US" sz="1450" dirty="0"/>
          </a:p>
        </p:txBody>
      </p:sp>
      <p:sp>
        <p:nvSpPr>
          <p:cNvPr id="17" name="Shape 15"/>
          <p:cNvSpPr/>
          <p:nvPr/>
        </p:nvSpPr>
        <p:spPr>
          <a:xfrm>
            <a:off x="548640" y="4864608"/>
            <a:ext cx="11064240" cy="914400"/>
          </a:xfrm>
          <a:prstGeom prst="roundRect">
            <a:avLst>
              <a:gd name="adj" fmla="val 8000"/>
            </a:avLst>
          </a:prstGeom>
          <a:solidFill>
            <a:srgbClr val="F1F4F9"/>
          </a:solidFill>
          <a:ln w="12700">
            <a:solidFill>
              <a:srgbClr val="DDE3EC"/>
            </a:solidFill>
            <a:prstDash val="solid"/>
          </a:ln>
        </p:spPr>
      </p:sp>
      <p:sp>
        <p:nvSpPr>
          <p:cNvPr id="18" name="Shape 16"/>
          <p:cNvSpPr/>
          <p:nvPr/>
        </p:nvSpPr>
        <p:spPr>
          <a:xfrm>
            <a:off x="822960" y="5129784"/>
            <a:ext cx="384048" cy="384048"/>
          </a:xfrm>
          <a:prstGeom prst="ellipse">
            <a:avLst/>
          </a:prstGeom>
          <a:solidFill>
            <a:srgbClr val="C8A02C"/>
          </a:solidFill>
          <a:ln/>
        </p:spPr>
      </p:sp>
      <p:sp>
        <p:nvSpPr>
          <p:cNvPr id="19" name="Text 17"/>
          <p:cNvSpPr txBox="1"/>
          <p:nvPr/>
        </p:nvSpPr>
        <p:spPr>
          <a:xfrm>
            <a:off x="822960" y="512978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371600" y="4864608"/>
            <a:ext cx="9966960" cy="914400"/>
          </a:xfrm>
          <a:prstGeom prst="rect">
            <a:avLst/>
          </a:prstGeom>
          <a:noFill/>
          <a:ln/>
        </p:spPr>
        <p:txBody>
          <a:bodyPr wrap="square" lIns="0" tIns="0" rIns="0" bIns="0" rtlCol="0" anchor="ctr"/>
          <a:lstStyle/>
          <a:p>
            <a:pPr indent="0" marL="0">
              <a:buNone/>
            </a:pPr>
            <a:r>
              <a:rPr lang="en-US" sz="1450" b="1" dirty="0">
                <a:solidFill>
                  <a:srgbClr val="1B2A55"/>
                </a:solidFill>
                <a:latin typeface="Calibri" pitchFamily="34" charset="0"/>
                <a:ea typeface="Calibri" pitchFamily="34" charset="-122"/>
                <a:cs typeface="Calibri" pitchFamily="34" charset="-120"/>
              </a:rPr>
              <a:t>To explain and demonstrate </a:t>
            </a:r>
            <a:pPr indent="0" marL="0">
              <a:buNone/>
            </a:pPr>
            <a:r>
              <a:rPr lang="en-US" sz="1450" dirty="0">
                <a:solidFill>
                  <a:srgbClr val="1F2430"/>
                </a:solidFill>
                <a:latin typeface="Calibri" pitchFamily="34" charset="0"/>
                <a:ea typeface="Calibri" pitchFamily="34" charset="-122"/>
                <a:cs typeface="Calibri" pitchFamily="34" charset="-120"/>
              </a:rPr>
              <a:t>the Random Forest with SHAP (global and individual) and map the drivers to HR retention actions.</a:t>
            </a:r>
            <a:endParaRPr lang="en-US" sz="1450" dirty="0"/>
          </a:p>
        </p:txBody>
      </p:sp>
      <p:sp>
        <p:nvSpPr>
          <p:cNvPr id="21" name="Text 19"/>
          <p:cNvSpPr txBox="1"/>
          <p:nvPr/>
        </p:nvSpPr>
        <p:spPr>
          <a:xfrm>
            <a:off x="548640" y="5943600"/>
            <a:ext cx="11064240" cy="274320"/>
          </a:xfrm>
          <a:prstGeom prst="rect">
            <a:avLst/>
          </a:prstGeom>
          <a:noFill/>
          <a:ln/>
        </p:spPr>
        <p:txBody>
          <a:bodyPr wrap="square" lIns="0" tIns="0" rIns="0" bIns="0" rtlCol="0" anchor="ctr"/>
          <a:lstStyle/>
          <a:p>
            <a:pPr indent="0" marL="0">
              <a:buNone/>
            </a:pPr>
            <a:r>
              <a:rPr lang="en-US" sz="1200" i="1" dirty="0">
                <a:solidFill>
                  <a:srgbClr val="A4161A"/>
                </a:solidFill>
                <a:latin typeface="Calibri" pitchFamily="34" charset="0"/>
                <a:ea typeface="Calibri" pitchFamily="34" charset="-122"/>
                <a:cs typeface="Calibri" pitchFamily="34" charset="-120"/>
              </a:rPr>
              <a:t>Objectives map one-to-one to results: O1 to EDA, O2-O3 to the metrics table, O4 to the SHAP plots.</a:t>
            </a:r>
            <a:endParaRPr lang="en-US" sz="1200" dirty="0"/>
          </a:p>
        </p:txBody>
      </p:sp>
      <p:sp>
        <p:nvSpPr>
          <p:cNvPr id="22" name="Text 2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3" name="Text 2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6</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Proposed System Architecture</a:t>
            </a:r>
            <a:endParaRPr lang="en-US" sz="3100" dirty="0"/>
          </a:p>
        </p:txBody>
      </p:sp>
      <p:sp>
        <p:nvSpPr>
          <p:cNvPr id="4" name="Shape 2"/>
          <p:cNvSpPr/>
          <p:nvPr/>
        </p:nvSpPr>
        <p:spPr>
          <a:xfrm>
            <a:off x="548640" y="1691640"/>
            <a:ext cx="2560320" cy="1737360"/>
          </a:xfrm>
          <a:prstGeom prst="roundRect">
            <a:avLst>
              <a:gd name="adj" fmla="val 4211"/>
            </a:avLst>
          </a:prstGeom>
          <a:solidFill>
            <a:srgbClr val="F1F4F9"/>
          </a:solidFill>
          <a:ln w="12700">
            <a:solidFill>
              <a:srgbClr val="DDE3EC"/>
            </a:solidFill>
            <a:prstDash val="solid"/>
          </a:ln>
        </p:spPr>
      </p:sp>
      <p:sp>
        <p:nvSpPr>
          <p:cNvPr id="5" name="Text 3"/>
          <p:cNvSpPr txBox="1"/>
          <p:nvPr/>
        </p:nvSpPr>
        <p:spPr>
          <a:xfrm>
            <a:off x="685800" y="1920240"/>
            <a:ext cx="2286000" cy="292608"/>
          </a:xfrm>
          <a:prstGeom prst="rect">
            <a:avLst/>
          </a:prstGeom>
          <a:noFill/>
          <a:ln/>
        </p:spPr>
        <p:txBody>
          <a:bodyPr wrap="square" lIns="0" tIns="0" rIns="0" bIns="0" rtlCol="0" anchor="ctr"/>
          <a:lstStyle/>
          <a:p>
            <a:pPr algn="ctr" indent="0" marL="0">
              <a:buNone/>
            </a:pPr>
            <a:r>
              <a:rPr lang="en-US" sz="1200" b="1" spc="120" kern="0" dirty="0">
                <a:solidFill>
                  <a:srgbClr val="1B2A55"/>
                </a:solidFill>
                <a:latin typeface="Calibri" pitchFamily="34" charset="0"/>
                <a:ea typeface="Calibri" pitchFamily="34" charset="-122"/>
                <a:cs typeface="Calibri" pitchFamily="34" charset="-120"/>
              </a:rPr>
              <a:t>INPUT</a:t>
            </a:r>
            <a:endParaRPr lang="en-US" sz="1200" dirty="0"/>
          </a:p>
        </p:txBody>
      </p:sp>
      <p:sp>
        <p:nvSpPr>
          <p:cNvPr id="6" name="Text 4"/>
          <p:cNvSpPr txBox="1"/>
          <p:nvPr/>
        </p:nvSpPr>
        <p:spPr>
          <a:xfrm>
            <a:off x="685800" y="2286000"/>
            <a:ext cx="2286000" cy="1005840"/>
          </a:xfrm>
          <a:prstGeom prst="rect">
            <a:avLst/>
          </a:prstGeom>
          <a:noFill/>
          <a:ln/>
        </p:spPr>
        <p:txBody>
          <a:bodyPr wrap="square" lIns="0" tIns="0" rIns="0" bIns="0" rtlCol="0" anchor="ctr"/>
          <a:lstStyle/>
          <a:p>
            <a:pPr algn="ctr" indent="0" marL="0">
              <a:buNone/>
            </a:pPr>
            <a:r>
              <a:rPr lang="en-US" sz="1200" dirty="0">
                <a:solidFill>
                  <a:srgbClr val="1F2430"/>
                </a:solidFill>
                <a:latin typeface="Calibri" pitchFamily="34" charset="0"/>
                <a:ea typeface="Calibri" pitchFamily="34" charset="-122"/>
                <a:cs typeface="Calibri" pitchFamily="34" charset="-120"/>
              </a:rPr>
              <a:t>IBM HR Analytics CSV</a:t>
            </a:r>
            <a:endParaRPr lang="en-US" sz="1200" dirty="0"/>
          </a:p>
          <a:p>
            <a:pPr algn="ctr" indent="0" marL="0">
              <a:buNone/>
            </a:pPr>
            <a:r>
              <a:rPr lang="en-US" sz="1200" dirty="0">
                <a:solidFill>
                  <a:srgbClr val="1F2430"/>
                </a:solidFill>
                <a:latin typeface="Calibri" pitchFamily="34" charset="0"/>
                <a:ea typeface="Calibri" pitchFamily="34" charset="-122"/>
                <a:cs typeface="Calibri" pitchFamily="34" charset="-120"/>
              </a:rPr>
              <a:t>1,470 employees x 35 columns</a:t>
            </a:r>
            <a:endParaRPr lang="en-US" sz="1200" dirty="0"/>
          </a:p>
        </p:txBody>
      </p:sp>
      <p:sp>
        <p:nvSpPr>
          <p:cNvPr id="7" name="Shape 5"/>
          <p:cNvSpPr/>
          <p:nvPr/>
        </p:nvSpPr>
        <p:spPr>
          <a:xfrm>
            <a:off x="3182112" y="2404872"/>
            <a:ext cx="201168" cy="310896"/>
          </a:xfrm>
          <a:prstGeom prst="rightArrow">
            <a:avLst/>
          </a:prstGeom>
          <a:solidFill>
            <a:srgbClr val="C8A02C"/>
          </a:solidFill>
          <a:ln w="12700">
            <a:solidFill>
              <a:srgbClr val="C8A02C"/>
            </a:solidFill>
            <a:prstDash val="solid"/>
          </a:ln>
        </p:spPr>
      </p:sp>
      <p:sp>
        <p:nvSpPr>
          <p:cNvPr id="8" name="Shape 6"/>
          <p:cNvSpPr/>
          <p:nvPr/>
        </p:nvSpPr>
        <p:spPr>
          <a:xfrm>
            <a:off x="3438144" y="1691640"/>
            <a:ext cx="2560320" cy="1737360"/>
          </a:xfrm>
          <a:prstGeom prst="roundRect">
            <a:avLst>
              <a:gd name="adj" fmla="val 4211"/>
            </a:avLst>
          </a:prstGeom>
          <a:solidFill>
            <a:srgbClr val="F1F4F9"/>
          </a:solidFill>
          <a:ln w="12700">
            <a:solidFill>
              <a:srgbClr val="DDE3EC"/>
            </a:solidFill>
            <a:prstDash val="solid"/>
          </a:ln>
        </p:spPr>
      </p:sp>
      <p:sp>
        <p:nvSpPr>
          <p:cNvPr id="9" name="Text 7"/>
          <p:cNvSpPr txBox="1"/>
          <p:nvPr/>
        </p:nvSpPr>
        <p:spPr>
          <a:xfrm>
            <a:off x="3575304" y="1920240"/>
            <a:ext cx="2286000" cy="292608"/>
          </a:xfrm>
          <a:prstGeom prst="rect">
            <a:avLst/>
          </a:prstGeom>
          <a:noFill/>
          <a:ln/>
        </p:spPr>
        <p:txBody>
          <a:bodyPr wrap="square" lIns="0" tIns="0" rIns="0" bIns="0" rtlCol="0" anchor="ctr"/>
          <a:lstStyle/>
          <a:p>
            <a:pPr algn="ctr" indent="0" marL="0">
              <a:buNone/>
            </a:pPr>
            <a:r>
              <a:rPr lang="en-US" sz="1200" b="1" spc="120" kern="0" dirty="0">
                <a:solidFill>
                  <a:srgbClr val="1B2A55"/>
                </a:solidFill>
                <a:latin typeface="Calibri" pitchFamily="34" charset="0"/>
                <a:ea typeface="Calibri" pitchFamily="34" charset="-122"/>
                <a:cs typeface="Calibri" pitchFamily="34" charset="-120"/>
              </a:rPr>
              <a:t>PRE-PROCESSING</a:t>
            </a:r>
            <a:endParaRPr lang="en-US" sz="1200" dirty="0"/>
          </a:p>
        </p:txBody>
      </p:sp>
      <p:sp>
        <p:nvSpPr>
          <p:cNvPr id="10" name="Text 8"/>
          <p:cNvSpPr txBox="1"/>
          <p:nvPr/>
        </p:nvSpPr>
        <p:spPr>
          <a:xfrm>
            <a:off x="3575304" y="2286000"/>
            <a:ext cx="2286000" cy="1005840"/>
          </a:xfrm>
          <a:prstGeom prst="rect">
            <a:avLst/>
          </a:prstGeom>
          <a:noFill/>
          <a:ln/>
        </p:spPr>
        <p:txBody>
          <a:bodyPr wrap="square" lIns="0" tIns="0" rIns="0" bIns="0" rtlCol="0" anchor="ctr"/>
          <a:lstStyle/>
          <a:p>
            <a:pPr algn="ctr" indent="0" marL="0">
              <a:buNone/>
            </a:pPr>
            <a:r>
              <a:rPr lang="en-US" sz="1200" dirty="0">
                <a:solidFill>
                  <a:srgbClr val="1F2430"/>
                </a:solidFill>
                <a:latin typeface="Calibri" pitchFamily="34" charset="0"/>
                <a:ea typeface="Calibri" pitchFamily="34" charset="-122"/>
                <a:cs typeface="Calibri" pitchFamily="34" charset="-120"/>
              </a:rPr>
              <a:t>Drop 4 columns, one-hot</a:t>
            </a:r>
            <a:endParaRPr lang="en-US" sz="1200" dirty="0"/>
          </a:p>
          <a:p>
            <a:pPr algn="ctr" indent="0" marL="0">
              <a:buNone/>
            </a:pPr>
            <a:r>
              <a:rPr lang="en-US" sz="1200" dirty="0">
                <a:solidFill>
                  <a:srgbClr val="1F2430"/>
                </a:solidFill>
                <a:latin typeface="Calibri" pitchFamily="34" charset="0"/>
                <a:ea typeface="Calibri" pitchFamily="34" charset="-122"/>
                <a:cs typeface="Calibri" pitchFamily="34" charset="-120"/>
              </a:rPr>
              <a:t>encode (44 features),</a:t>
            </a:r>
            <a:endParaRPr lang="en-US" sz="1200" dirty="0"/>
          </a:p>
          <a:p>
            <a:pPr algn="ctr" indent="0" marL="0">
              <a:buNone/>
            </a:pPr>
            <a:r>
              <a:rPr lang="en-US" sz="1200" dirty="0">
                <a:solidFill>
                  <a:srgbClr val="1F2430"/>
                </a:solidFill>
                <a:latin typeface="Calibri" pitchFamily="34" charset="0"/>
                <a:ea typeface="Calibri" pitchFamily="34" charset="-122"/>
                <a:cs typeface="Calibri" pitchFamily="34" charset="-120"/>
              </a:rPr>
              <a:t>stratified 80/20 split</a:t>
            </a:r>
            <a:endParaRPr lang="en-US" sz="1200" dirty="0"/>
          </a:p>
        </p:txBody>
      </p:sp>
      <p:sp>
        <p:nvSpPr>
          <p:cNvPr id="11" name="Shape 9"/>
          <p:cNvSpPr/>
          <p:nvPr/>
        </p:nvSpPr>
        <p:spPr>
          <a:xfrm>
            <a:off x="6071616" y="2404872"/>
            <a:ext cx="201168" cy="310896"/>
          </a:xfrm>
          <a:prstGeom prst="rightArrow">
            <a:avLst/>
          </a:prstGeom>
          <a:solidFill>
            <a:srgbClr val="C8A02C"/>
          </a:solidFill>
          <a:ln w="12700">
            <a:solidFill>
              <a:srgbClr val="C8A02C"/>
            </a:solidFill>
            <a:prstDash val="solid"/>
          </a:ln>
        </p:spPr>
      </p:sp>
      <p:sp>
        <p:nvSpPr>
          <p:cNvPr id="12" name="Shape 10"/>
          <p:cNvSpPr/>
          <p:nvPr/>
        </p:nvSpPr>
        <p:spPr>
          <a:xfrm>
            <a:off x="6327648" y="1691640"/>
            <a:ext cx="2560320" cy="1737360"/>
          </a:xfrm>
          <a:prstGeom prst="roundRect">
            <a:avLst>
              <a:gd name="adj" fmla="val 4211"/>
            </a:avLst>
          </a:prstGeom>
          <a:solidFill>
            <a:srgbClr val="1B2A55"/>
          </a:solidFill>
          <a:ln w="12700">
            <a:solidFill>
              <a:srgbClr val="1B2A55"/>
            </a:solidFill>
            <a:prstDash val="solid"/>
          </a:ln>
        </p:spPr>
      </p:sp>
      <p:sp>
        <p:nvSpPr>
          <p:cNvPr id="13" name="Text 11"/>
          <p:cNvSpPr txBox="1"/>
          <p:nvPr/>
        </p:nvSpPr>
        <p:spPr>
          <a:xfrm>
            <a:off x="6464808" y="1920240"/>
            <a:ext cx="2286000" cy="292608"/>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CORE MODULE</a:t>
            </a:r>
            <a:endParaRPr lang="en-US" sz="1200" dirty="0"/>
          </a:p>
        </p:txBody>
      </p:sp>
      <p:sp>
        <p:nvSpPr>
          <p:cNvPr id="14" name="Text 12"/>
          <p:cNvSpPr txBox="1"/>
          <p:nvPr/>
        </p:nvSpPr>
        <p:spPr>
          <a:xfrm>
            <a:off x="6464808" y="2286000"/>
            <a:ext cx="2286000" cy="10058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Logistic Regression</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 Random Forest</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(balanced weights)</a:t>
            </a:r>
            <a:endParaRPr lang="en-US" sz="1200" dirty="0"/>
          </a:p>
        </p:txBody>
      </p:sp>
      <p:sp>
        <p:nvSpPr>
          <p:cNvPr id="15" name="Shape 13"/>
          <p:cNvSpPr/>
          <p:nvPr/>
        </p:nvSpPr>
        <p:spPr>
          <a:xfrm>
            <a:off x="8961120" y="2404872"/>
            <a:ext cx="201168" cy="310896"/>
          </a:xfrm>
          <a:prstGeom prst="rightArrow">
            <a:avLst/>
          </a:prstGeom>
          <a:solidFill>
            <a:srgbClr val="C8A02C"/>
          </a:solidFill>
          <a:ln w="12700">
            <a:solidFill>
              <a:srgbClr val="C8A02C"/>
            </a:solidFill>
            <a:prstDash val="solid"/>
          </a:ln>
        </p:spPr>
      </p:sp>
      <p:sp>
        <p:nvSpPr>
          <p:cNvPr id="16" name="Shape 14"/>
          <p:cNvSpPr/>
          <p:nvPr/>
        </p:nvSpPr>
        <p:spPr>
          <a:xfrm>
            <a:off x="9217152" y="1691640"/>
            <a:ext cx="2560320" cy="1737360"/>
          </a:xfrm>
          <a:prstGeom prst="roundRect">
            <a:avLst>
              <a:gd name="adj" fmla="val 4211"/>
            </a:avLst>
          </a:prstGeom>
          <a:solidFill>
            <a:srgbClr val="F1F4F9"/>
          </a:solidFill>
          <a:ln w="12700">
            <a:solidFill>
              <a:srgbClr val="DDE3EC"/>
            </a:solidFill>
            <a:prstDash val="solid"/>
          </a:ln>
        </p:spPr>
      </p:sp>
      <p:sp>
        <p:nvSpPr>
          <p:cNvPr id="17" name="Text 15"/>
          <p:cNvSpPr txBox="1"/>
          <p:nvPr/>
        </p:nvSpPr>
        <p:spPr>
          <a:xfrm>
            <a:off x="9354312" y="1920240"/>
            <a:ext cx="2286000" cy="292608"/>
          </a:xfrm>
          <a:prstGeom prst="rect">
            <a:avLst/>
          </a:prstGeom>
          <a:noFill/>
          <a:ln/>
        </p:spPr>
        <p:txBody>
          <a:bodyPr wrap="square" lIns="0" tIns="0" rIns="0" bIns="0" rtlCol="0" anchor="ctr"/>
          <a:lstStyle/>
          <a:p>
            <a:pPr algn="ctr" indent="0" marL="0">
              <a:buNone/>
            </a:pPr>
            <a:r>
              <a:rPr lang="en-US" sz="1200" b="1" spc="120" kern="0" dirty="0">
                <a:solidFill>
                  <a:srgbClr val="1B2A55"/>
                </a:solidFill>
                <a:latin typeface="Calibri" pitchFamily="34" charset="0"/>
                <a:ea typeface="Calibri" pitchFamily="34" charset="-122"/>
                <a:cs typeface="Calibri" pitchFamily="34" charset="-120"/>
              </a:rPr>
              <a:t>OUTPUT</a:t>
            </a:r>
            <a:endParaRPr lang="en-US" sz="1200" dirty="0"/>
          </a:p>
        </p:txBody>
      </p:sp>
      <p:sp>
        <p:nvSpPr>
          <p:cNvPr id="18" name="Text 16"/>
          <p:cNvSpPr txBox="1"/>
          <p:nvPr/>
        </p:nvSpPr>
        <p:spPr>
          <a:xfrm>
            <a:off x="9354312" y="2286000"/>
            <a:ext cx="2286000" cy="1005840"/>
          </a:xfrm>
          <a:prstGeom prst="rect">
            <a:avLst/>
          </a:prstGeom>
          <a:noFill/>
          <a:ln/>
        </p:spPr>
        <p:txBody>
          <a:bodyPr wrap="square" lIns="0" tIns="0" rIns="0" bIns="0" rtlCol="0" anchor="ctr"/>
          <a:lstStyle/>
          <a:p>
            <a:pPr algn="ctr" indent="0" marL="0">
              <a:buNone/>
            </a:pPr>
            <a:r>
              <a:rPr lang="en-US" sz="1200" dirty="0">
                <a:solidFill>
                  <a:srgbClr val="1F2430"/>
                </a:solidFill>
                <a:latin typeface="Calibri" pitchFamily="34" charset="0"/>
                <a:ea typeface="Calibri" pitchFamily="34" charset="-122"/>
                <a:cs typeface="Calibri" pitchFamily="34" charset="-120"/>
              </a:rPr>
              <a:t>Risk score, metrics</a:t>
            </a:r>
            <a:endParaRPr lang="en-US" sz="1200" dirty="0"/>
          </a:p>
          <a:p>
            <a:pPr algn="ctr" indent="0" marL="0">
              <a:buNone/>
            </a:pPr>
            <a:r>
              <a:rPr lang="en-US" sz="1200" dirty="0">
                <a:solidFill>
                  <a:srgbClr val="1F2430"/>
                </a:solidFill>
                <a:latin typeface="Calibri" pitchFamily="34" charset="0"/>
                <a:ea typeface="Calibri" pitchFamily="34" charset="-122"/>
                <a:cs typeface="Calibri" pitchFamily="34" charset="-120"/>
              </a:rPr>
              <a:t>(recall, F1, AUC) and</a:t>
            </a:r>
            <a:endParaRPr lang="en-US" sz="1200" dirty="0"/>
          </a:p>
          <a:p>
            <a:pPr algn="ctr" indent="0" marL="0">
              <a:buNone/>
            </a:pPr>
            <a:r>
              <a:rPr lang="en-US" sz="1200" dirty="0">
                <a:solidFill>
                  <a:srgbClr val="1F2430"/>
                </a:solidFill>
                <a:latin typeface="Calibri" pitchFamily="34" charset="0"/>
                <a:ea typeface="Calibri" pitchFamily="34" charset="-122"/>
                <a:cs typeface="Calibri" pitchFamily="34" charset="-120"/>
              </a:rPr>
              <a:t>SHAP drivers for HR</a:t>
            </a:r>
            <a:endParaRPr lang="en-US" sz="1200" dirty="0"/>
          </a:p>
        </p:txBody>
      </p:sp>
      <p:sp>
        <p:nvSpPr>
          <p:cNvPr id="19" name="Shape 17"/>
          <p:cNvSpPr/>
          <p:nvPr/>
        </p:nvSpPr>
        <p:spPr>
          <a:xfrm>
            <a:off x="548640" y="3749040"/>
            <a:ext cx="7315200" cy="2103120"/>
          </a:xfrm>
          <a:prstGeom prst="roundRect">
            <a:avLst>
              <a:gd name="adj" fmla="val 3478"/>
            </a:avLst>
          </a:prstGeom>
          <a:solidFill>
            <a:srgbClr val="FFFFFF"/>
          </a:solidFill>
          <a:ln w="12700">
            <a:solidFill>
              <a:srgbClr val="9AA5B8"/>
            </a:solidFill>
            <a:prstDash val="dash"/>
          </a:ln>
        </p:spPr>
      </p:sp>
      <p:sp>
        <p:nvSpPr>
          <p:cNvPr id="20" name="Text 18"/>
          <p:cNvSpPr txBox="1"/>
          <p:nvPr/>
        </p:nvSpPr>
        <p:spPr>
          <a:xfrm>
            <a:off x="685800" y="3749040"/>
            <a:ext cx="7040880" cy="210312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EVALUATION AND EXPLANATION LAYER</a:t>
            </a:r>
            <a:endParaRPr lang="en-US" sz="1200" dirty="0"/>
          </a:p>
          <a:p>
            <a:pPr algn="ctr" indent="0" marL="0">
              <a:buNone/>
            </a:pPr>
            <a:r>
              <a:rPr lang="en-US" sz="1300" dirty="0">
                <a:solidFill>
                  <a:srgbClr val="6B7280"/>
                </a:solidFill>
                <a:latin typeface="Calibri" pitchFamily="34" charset="0"/>
                <a:ea typeface="Calibri" pitchFamily="34" charset="-122"/>
                <a:cs typeface="Calibri" pitchFamily="34" charset="-120"/>
              </a:rPr>
              <a:t>5-fold CV AUC on training data; test-set accuracy, precision, recall, F1, ROC-AUC, ROC curves, confusion matrices.</a:t>
            </a:r>
            <a:endParaRPr lang="en-US" sz="1200" dirty="0"/>
          </a:p>
          <a:p>
            <a:pPr algn="ctr" indent="0" marL="0">
              <a:buNone/>
            </a:pPr>
            <a:r>
              <a:rPr lang="en-US" sz="1300" dirty="0">
                <a:solidFill>
                  <a:srgbClr val="6B7280"/>
                </a:solidFill>
                <a:latin typeface="Calibri" pitchFamily="34" charset="0"/>
                <a:ea typeface="Calibri" pitchFamily="34" charset="-122"/>
                <a:cs typeface="Calibri" pitchFamily="34" charset="-120"/>
              </a:rPr>
              <a:t>SHAP TreeExplainer on Random Forest: global importance, beeswarm direction plot, individual explanation.</a:t>
            </a:r>
            <a:endParaRPr lang="en-US" sz="1200" dirty="0"/>
          </a:p>
        </p:txBody>
      </p:sp>
      <p:sp>
        <p:nvSpPr>
          <p:cNvPr id="21" name="Shape 19"/>
          <p:cNvSpPr/>
          <p:nvPr/>
        </p:nvSpPr>
        <p:spPr>
          <a:xfrm>
            <a:off x="8092440" y="3749040"/>
            <a:ext cx="3520440" cy="2103120"/>
          </a:xfrm>
          <a:prstGeom prst="roundRect">
            <a:avLst>
              <a:gd name="adj" fmla="val 3478"/>
            </a:avLst>
          </a:prstGeom>
          <a:solidFill>
            <a:srgbClr val="FDF6E6"/>
          </a:solidFill>
          <a:ln w="12700">
            <a:solidFill>
              <a:srgbClr val="DDE3EC"/>
            </a:solidFill>
            <a:prstDash val="solid"/>
          </a:ln>
        </p:spPr>
      </p:sp>
      <p:sp>
        <p:nvSpPr>
          <p:cNvPr id="22" name="Text 20"/>
          <p:cNvSpPr txBox="1"/>
          <p:nvPr/>
        </p:nvSpPr>
        <p:spPr>
          <a:xfrm>
            <a:off x="8321040" y="3931920"/>
            <a:ext cx="3063240" cy="274320"/>
          </a:xfrm>
          <a:prstGeom prst="rect">
            <a:avLst/>
          </a:prstGeom>
          <a:noFill/>
          <a:ln/>
        </p:spPr>
        <p:txBody>
          <a:bodyPr wrap="square" lIns="0" tIns="0" rIns="0" bIns="0" rtlCol="0" anchor="ctr"/>
          <a:lstStyle/>
          <a:p>
            <a:pPr indent="0" marL="0">
              <a:buNone/>
            </a:pPr>
            <a:r>
              <a:rPr lang="en-US" sz="1350" b="1" dirty="0">
                <a:solidFill>
                  <a:srgbClr val="A4161A"/>
                </a:solidFill>
                <a:latin typeface="Calibri" pitchFamily="34" charset="0"/>
                <a:ea typeface="Calibri" pitchFamily="34" charset="-122"/>
                <a:cs typeface="Calibri" pitchFamily="34" charset="-120"/>
              </a:rPr>
              <a:t>Arrow labels</a:t>
            </a:r>
            <a:endParaRPr lang="en-US" sz="1350" dirty="0"/>
          </a:p>
        </p:txBody>
      </p:sp>
      <p:sp>
        <p:nvSpPr>
          <p:cNvPr id="23" name="Text 21"/>
          <p:cNvSpPr txBox="1"/>
          <p:nvPr/>
        </p:nvSpPr>
        <p:spPr>
          <a:xfrm>
            <a:off x="8321040" y="4251960"/>
            <a:ext cx="3063240" cy="137160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Arrow 1: raw CSV. Arrow 2: 44-feature matrix + train/test sets. Arrow 3: class-1 probabilities and SHAP values.</a:t>
            </a:r>
            <a:endParaRPr lang="en-US" sz="12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7</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Methodology &amp; Modules</a:t>
            </a:r>
            <a:endParaRPr lang="en-US" sz="3100" dirty="0"/>
          </a:p>
        </p:txBody>
      </p:sp>
      <p:sp>
        <p:nvSpPr>
          <p:cNvPr id="4" name="Shape 2"/>
          <p:cNvSpPr/>
          <p:nvPr/>
        </p:nvSpPr>
        <p:spPr>
          <a:xfrm>
            <a:off x="548640" y="1463040"/>
            <a:ext cx="5349240" cy="1965960"/>
          </a:xfrm>
          <a:prstGeom prst="roundRect">
            <a:avLst>
              <a:gd name="adj" fmla="val 3721"/>
            </a:avLst>
          </a:prstGeom>
          <a:solidFill>
            <a:srgbClr val="F1F4F9"/>
          </a:solidFill>
          <a:ln w="12700">
            <a:solidFill>
              <a:srgbClr val="DDE3EC"/>
            </a:solidFill>
            <a:prstDash val="solid"/>
          </a:ln>
        </p:spPr>
      </p:sp>
      <p:sp>
        <p:nvSpPr>
          <p:cNvPr id="5" name="Shape 3"/>
          <p:cNvSpPr/>
          <p:nvPr/>
        </p:nvSpPr>
        <p:spPr>
          <a:xfrm>
            <a:off x="822960" y="1737360"/>
            <a:ext cx="411480" cy="411480"/>
          </a:xfrm>
          <a:prstGeom prst="ellipse">
            <a:avLst/>
          </a:prstGeom>
          <a:solidFill>
            <a:srgbClr val="1B2A55"/>
          </a:solidFill>
          <a:ln/>
        </p:spPr>
      </p:sp>
      <p:sp>
        <p:nvSpPr>
          <p:cNvPr id="6" name="Text 4"/>
          <p:cNvSpPr txBox="1"/>
          <p:nvPr/>
        </p:nvSpPr>
        <p:spPr>
          <a:xfrm>
            <a:off x="822960" y="173736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755648"/>
            <a:ext cx="4206240" cy="384048"/>
          </a:xfrm>
          <a:prstGeom prst="rect">
            <a:avLst/>
          </a:prstGeom>
          <a:noFill/>
          <a:ln/>
        </p:spPr>
        <p:txBody>
          <a:bodyPr wrap="square" lIns="0" tIns="0" rIns="0" bIns="0" rtlCol="0" anchor="ctr"/>
          <a:lstStyle/>
          <a:p>
            <a:pPr indent="0" marL="0">
              <a:buNone/>
            </a:pPr>
            <a:r>
              <a:rPr lang="en-US" sz="1600" b="1" dirty="0">
                <a:solidFill>
                  <a:srgbClr val="1B2A55"/>
                </a:solidFill>
                <a:latin typeface="Calibri" pitchFamily="34" charset="0"/>
                <a:ea typeface="Calibri" pitchFamily="34" charset="-122"/>
                <a:cs typeface="Calibri" pitchFamily="34" charset="-120"/>
              </a:rPr>
              <a:t>Module 1 - Data</a:t>
            </a:r>
            <a:endParaRPr lang="en-US" sz="1600" dirty="0"/>
          </a:p>
        </p:txBody>
      </p:sp>
      <p:sp>
        <p:nvSpPr>
          <p:cNvPr id="8" name="Text 6"/>
          <p:cNvSpPr txBox="1"/>
          <p:nvPr/>
        </p:nvSpPr>
        <p:spPr>
          <a:xfrm>
            <a:off x="822960" y="2331720"/>
            <a:ext cx="4800600" cy="91440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IBM HR Analytics (Kaggle [12]): 1,470 rows, 35 columns, no missing values; 237 leavers (16.1%).</a:t>
            </a:r>
            <a:endParaRPr lang="en-US" sz="1300" dirty="0"/>
          </a:p>
        </p:txBody>
      </p:sp>
      <p:sp>
        <p:nvSpPr>
          <p:cNvPr id="9" name="Shape 7"/>
          <p:cNvSpPr/>
          <p:nvPr/>
        </p:nvSpPr>
        <p:spPr>
          <a:xfrm>
            <a:off x="6217920" y="1463040"/>
            <a:ext cx="5349240" cy="1965960"/>
          </a:xfrm>
          <a:prstGeom prst="roundRect">
            <a:avLst>
              <a:gd name="adj" fmla="val 3721"/>
            </a:avLst>
          </a:prstGeom>
          <a:solidFill>
            <a:srgbClr val="F1F4F9"/>
          </a:solidFill>
          <a:ln w="12700">
            <a:solidFill>
              <a:srgbClr val="DDE3EC"/>
            </a:solidFill>
            <a:prstDash val="solid"/>
          </a:ln>
        </p:spPr>
      </p:sp>
      <p:sp>
        <p:nvSpPr>
          <p:cNvPr id="10" name="Shape 8"/>
          <p:cNvSpPr/>
          <p:nvPr/>
        </p:nvSpPr>
        <p:spPr>
          <a:xfrm>
            <a:off x="6492240" y="1737360"/>
            <a:ext cx="411480" cy="411480"/>
          </a:xfrm>
          <a:prstGeom prst="ellipse">
            <a:avLst/>
          </a:prstGeom>
          <a:solidFill>
            <a:srgbClr val="1B2A55"/>
          </a:solidFill>
          <a:ln/>
        </p:spPr>
      </p:sp>
      <p:sp>
        <p:nvSpPr>
          <p:cNvPr id="11" name="Text 9"/>
          <p:cNvSpPr txBox="1"/>
          <p:nvPr/>
        </p:nvSpPr>
        <p:spPr>
          <a:xfrm>
            <a:off x="6492240" y="173736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86600" y="1755648"/>
            <a:ext cx="4206240" cy="384048"/>
          </a:xfrm>
          <a:prstGeom prst="rect">
            <a:avLst/>
          </a:prstGeom>
          <a:noFill/>
          <a:ln/>
        </p:spPr>
        <p:txBody>
          <a:bodyPr wrap="square" lIns="0" tIns="0" rIns="0" bIns="0" rtlCol="0" anchor="ctr"/>
          <a:lstStyle/>
          <a:p>
            <a:pPr indent="0" marL="0">
              <a:buNone/>
            </a:pPr>
            <a:r>
              <a:rPr lang="en-US" sz="1600" b="1" dirty="0">
                <a:solidFill>
                  <a:srgbClr val="1B2A55"/>
                </a:solidFill>
                <a:latin typeface="Calibri" pitchFamily="34" charset="0"/>
                <a:ea typeface="Calibri" pitchFamily="34" charset="-122"/>
                <a:cs typeface="Calibri" pitchFamily="34" charset="-120"/>
              </a:rPr>
              <a:t>Module 2 - Processing</a:t>
            </a:r>
            <a:endParaRPr lang="en-US" sz="1600" dirty="0"/>
          </a:p>
        </p:txBody>
      </p:sp>
      <p:sp>
        <p:nvSpPr>
          <p:cNvPr id="13" name="Text 11"/>
          <p:cNvSpPr txBox="1"/>
          <p:nvPr/>
        </p:nvSpPr>
        <p:spPr>
          <a:xfrm>
            <a:off x="6492240" y="2331720"/>
            <a:ext cx="4800600" cy="91440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Drop 4 constant/ID columns, one-hot encode, standardise (LR only), stratified split: 1,176 train / 294 test.</a:t>
            </a:r>
            <a:endParaRPr lang="en-US" sz="1300" dirty="0"/>
          </a:p>
        </p:txBody>
      </p:sp>
      <p:sp>
        <p:nvSpPr>
          <p:cNvPr id="14" name="Shape 12"/>
          <p:cNvSpPr/>
          <p:nvPr/>
        </p:nvSpPr>
        <p:spPr>
          <a:xfrm>
            <a:off x="548640" y="3703320"/>
            <a:ext cx="5349240" cy="1965960"/>
          </a:xfrm>
          <a:prstGeom prst="roundRect">
            <a:avLst>
              <a:gd name="adj" fmla="val 3721"/>
            </a:avLst>
          </a:prstGeom>
          <a:solidFill>
            <a:srgbClr val="F1F4F9"/>
          </a:solidFill>
          <a:ln w="12700">
            <a:solidFill>
              <a:srgbClr val="DDE3EC"/>
            </a:solidFill>
            <a:prstDash val="solid"/>
          </a:ln>
        </p:spPr>
      </p:sp>
      <p:sp>
        <p:nvSpPr>
          <p:cNvPr id="15" name="Shape 13"/>
          <p:cNvSpPr/>
          <p:nvPr/>
        </p:nvSpPr>
        <p:spPr>
          <a:xfrm>
            <a:off x="822960" y="3977640"/>
            <a:ext cx="411480" cy="411480"/>
          </a:xfrm>
          <a:prstGeom prst="ellipse">
            <a:avLst/>
          </a:prstGeom>
          <a:solidFill>
            <a:srgbClr val="1B2A55"/>
          </a:solidFill>
          <a:ln/>
        </p:spPr>
      </p:sp>
      <p:sp>
        <p:nvSpPr>
          <p:cNvPr id="16" name="Text 14"/>
          <p:cNvSpPr txBox="1"/>
          <p:nvPr/>
        </p:nvSpPr>
        <p:spPr>
          <a:xfrm>
            <a:off x="822960" y="397764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3995928"/>
            <a:ext cx="4206240" cy="384048"/>
          </a:xfrm>
          <a:prstGeom prst="rect">
            <a:avLst/>
          </a:prstGeom>
          <a:noFill/>
          <a:ln/>
        </p:spPr>
        <p:txBody>
          <a:bodyPr wrap="square" lIns="0" tIns="0" rIns="0" bIns="0" rtlCol="0" anchor="ctr"/>
          <a:lstStyle/>
          <a:p>
            <a:pPr indent="0" marL="0">
              <a:buNone/>
            </a:pPr>
            <a:r>
              <a:rPr lang="en-US" sz="1600" b="1" dirty="0">
                <a:solidFill>
                  <a:srgbClr val="1B2A55"/>
                </a:solidFill>
                <a:latin typeface="Calibri" pitchFamily="34" charset="0"/>
                <a:ea typeface="Calibri" pitchFamily="34" charset="-122"/>
                <a:cs typeface="Calibri" pitchFamily="34" charset="-120"/>
              </a:rPr>
              <a:t>Module 3 - Core Logic</a:t>
            </a:r>
            <a:endParaRPr lang="en-US" sz="1600" dirty="0"/>
          </a:p>
        </p:txBody>
      </p:sp>
      <p:sp>
        <p:nvSpPr>
          <p:cNvPr id="18" name="Text 16"/>
          <p:cNvSpPr txBox="1"/>
          <p:nvPr/>
        </p:nvSpPr>
        <p:spPr>
          <a:xfrm>
            <a:off x="822960" y="4572000"/>
            <a:ext cx="4800600" cy="91440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LR as interpretable baseline; RF for non-linear effects and exact Tree SHAP [10], [11]. Both use balanced class weights.</a:t>
            </a:r>
            <a:endParaRPr lang="en-US" sz="1300" dirty="0"/>
          </a:p>
        </p:txBody>
      </p:sp>
      <p:sp>
        <p:nvSpPr>
          <p:cNvPr id="19" name="Shape 17"/>
          <p:cNvSpPr/>
          <p:nvPr/>
        </p:nvSpPr>
        <p:spPr>
          <a:xfrm>
            <a:off x="6217920" y="3703320"/>
            <a:ext cx="5349240" cy="1965960"/>
          </a:xfrm>
          <a:prstGeom prst="roundRect">
            <a:avLst>
              <a:gd name="adj" fmla="val 3721"/>
            </a:avLst>
          </a:prstGeom>
          <a:solidFill>
            <a:srgbClr val="F1F4F9"/>
          </a:solidFill>
          <a:ln w="12700">
            <a:solidFill>
              <a:srgbClr val="DDE3EC"/>
            </a:solidFill>
            <a:prstDash val="solid"/>
          </a:ln>
        </p:spPr>
      </p:sp>
      <p:sp>
        <p:nvSpPr>
          <p:cNvPr id="20" name="Shape 18"/>
          <p:cNvSpPr/>
          <p:nvPr/>
        </p:nvSpPr>
        <p:spPr>
          <a:xfrm>
            <a:off x="6492240" y="3977640"/>
            <a:ext cx="411480" cy="411480"/>
          </a:xfrm>
          <a:prstGeom prst="ellipse">
            <a:avLst/>
          </a:prstGeom>
          <a:solidFill>
            <a:srgbClr val="1B2A55"/>
          </a:solidFill>
          <a:ln/>
        </p:spPr>
      </p:sp>
      <p:sp>
        <p:nvSpPr>
          <p:cNvPr id="21" name="Text 19"/>
          <p:cNvSpPr txBox="1"/>
          <p:nvPr/>
        </p:nvSpPr>
        <p:spPr>
          <a:xfrm>
            <a:off x="6492240" y="397764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86600" y="3995928"/>
            <a:ext cx="4206240" cy="384048"/>
          </a:xfrm>
          <a:prstGeom prst="rect">
            <a:avLst/>
          </a:prstGeom>
          <a:noFill/>
          <a:ln/>
        </p:spPr>
        <p:txBody>
          <a:bodyPr wrap="square" lIns="0" tIns="0" rIns="0" bIns="0" rtlCol="0" anchor="ctr"/>
          <a:lstStyle/>
          <a:p>
            <a:pPr indent="0" marL="0">
              <a:buNone/>
            </a:pPr>
            <a:r>
              <a:rPr lang="en-US" sz="1600" b="1" dirty="0">
                <a:solidFill>
                  <a:srgbClr val="1B2A55"/>
                </a:solidFill>
                <a:latin typeface="Calibri" pitchFamily="34" charset="0"/>
                <a:ea typeface="Calibri" pitchFamily="34" charset="-122"/>
                <a:cs typeface="Calibri" pitchFamily="34" charset="-120"/>
              </a:rPr>
              <a:t>Module 4 - Explanation and Output</a:t>
            </a:r>
            <a:endParaRPr lang="en-US" sz="1600" dirty="0"/>
          </a:p>
        </p:txBody>
      </p:sp>
      <p:sp>
        <p:nvSpPr>
          <p:cNvPr id="23" name="Text 21"/>
          <p:cNvSpPr txBox="1"/>
          <p:nvPr/>
        </p:nvSpPr>
        <p:spPr>
          <a:xfrm>
            <a:off x="6492240" y="4572000"/>
            <a:ext cx="4800600" cy="91440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SHAP summary and individual plots, risk scores and driver-to-action table, delivered as a Python notebook.</a:t>
            </a:r>
            <a:endParaRPr lang="en-US" sz="13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8</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Tools and Technologies</a:t>
            </a:r>
            <a:endParaRPr lang="en-US" sz="3100" dirty="0"/>
          </a:p>
        </p:txBody>
      </p:sp>
      <p:sp>
        <p:nvSpPr>
          <p:cNvPr id="4" name="Shape 2"/>
          <p:cNvSpPr/>
          <p:nvPr/>
        </p:nvSpPr>
        <p:spPr>
          <a:xfrm>
            <a:off x="548640" y="1463040"/>
            <a:ext cx="5349240" cy="4114800"/>
          </a:xfrm>
          <a:prstGeom prst="roundRect">
            <a:avLst>
              <a:gd name="adj" fmla="val 1778"/>
            </a:avLst>
          </a:prstGeom>
          <a:solidFill>
            <a:srgbClr val="F1F4F9"/>
          </a:solidFill>
          <a:ln w="12700">
            <a:solidFill>
              <a:srgbClr val="DDE3EC"/>
            </a:solidFill>
            <a:prstDash val="solid"/>
          </a:ln>
        </p:spPr>
      </p:sp>
      <p:sp>
        <p:nvSpPr>
          <p:cNvPr id="5" name="Text 3"/>
          <p:cNvSpPr txBox="1"/>
          <p:nvPr/>
        </p:nvSpPr>
        <p:spPr>
          <a:xfrm>
            <a:off x="868680" y="1691640"/>
            <a:ext cx="4709160" cy="320040"/>
          </a:xfrm>
          <a:prstGeom prst="rect">
            <a:avLst/>
          </a:prstGeom>
          <a:noFill/>
          <a:ln/>
        </p:spPr>
        <p:txBody>
          <a:bodyPr wrap="square" lIns="0" tIns="0" rIns="0" bIns="0" rtlCol="0" anchor="ctr"/>
          <a:lstStyle/>
          <a:p>
            <a:pPr indent="0" marL="0">
              <a:buNone/>
            </a:pPr>
            <a:r>
              <a:rPr lang="en-US" sz="1200" b="1" spc="180" kern="0" dirty="0">
                <a:solidFill>
                  <a:srgbClr val="C8A02C"/>
                </a:solidFill>
                <a:latin typeface="Calibri" pitchFamily="34" charset="0"/>
                <a:ea typeface="Calibri" pitchFamily="34" charset="-122"/>
                <a:cs typeface="Calibri" pitchFamily="34" charset="-120"/>
              </a:rPr>
              <a:t>SOFTWARE</a:t>
            </a:r>
            <a:endParaRPr lang="en-US" sz="1200" dirty="0"/>
          </a:p>
        </p:txBody>
      </p:sp>
      <p:sp>
        <p:nvSpPr>
          <p:cNvPr id="6" name="Text 4"/>
          <p:cNvSpPr txBox="1"/>
          <p:nvPr/>
        </p:nvSpPr>
        <p:spPr>
          <a:xfrm>
            <a:off x="868680" y="2103120"/>
            <a:ext cx="4709160" cy="32004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Language: Python 3</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Libraries: pandas, NumPy, scikit-learn, SHAP</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Plotting: Matplotlib, Seaborn</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Front end: Jupyter / Colab notebook</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Back end: none (offline analysis)</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Data store: CSV file</a:t>
            </a:r>
            <a:endParaRPr lang="en-US" sz="1350" dirty="0"/>
          </a:p>
        </p:txBody>
      </p:sp>
      <p:sp>
        <p:nvSpPr>
          <p:cNvPr id="7" name="Shape 5"/>
          <p:cNvSpPr/>
          <p:nvPr/>
        </p:nvSpPr>
        <p:spPr>
          <a:xfrm>
            <a:off x="6217920" y="1463040"/>
            <a:ext cx="5349240" cy="4114800"/>
          </a:xfrm>
          <a:prstGeom prst="roundRect">
            <a:avLst>
              <a:gd name="adj" fmla="val 1778"/>
            </a:avLst>
          </a:prstGeom>
          <a:solidFill>
            <a:srgbClr val="F1F4F9"/>
          </a:solidFill>
          <a:ln w="12700">
            <a:solidFill>
              <a:srgbClr val="DDE3EC"/>
            </a:solidFill>
            <a:prstDash val="solid"/>
          </a:ln>
        </p:spPr>
      </p:sp>
      <p:sp>
        <p:nvSpPr>
          <p:cNvPr id="8" name="Text 6"/>
          <p:cNvSpPr txBox="1"/>
          <p:nvPr/>
        </p:nvSpPr>
        <p:spPr>
          <a:xfrm>
            <a:off x="6537960" y="1691640"/>
            <a:ext cx="4709160" cy="320040"/>
          </a:xfrm>
          <a:prstGeom prst="rect">
            <a:avLst/>
          </a:prstGeom>
          <a:noFill/>
          <a:ln/>
        </p:spPr>
        <p:txBody>
          <a:bodyPr wrap="square" lIns="0" tIns="0" rIns="0" bIns="0" rtlCol="0" anchor="ctr"/>
          <a:lstStyle/>
          <a:p>
            <a:pPr indent="0" marL="0">
              <a:buNone/>
            </a:pPr>
            <a:r>
              <a:rPr lang="en-US" sz="1200" b="1" spc="180" kern="0" dirty="0">
                <a:solidFill>
                  <a:srgbClr val="C8A02C"/>
                </a:solidFill>
                <a:latin typeface="Calibri" pitchFamily="34" charset="0"/>
                <a:ea typeface="Calibri" pitchFamily="34" charset="-122"/>
                <a:cs typeface="Calibri" pitchFamily="34" charset="-120"/>
              </a:rPr>
              <a:t>HARDWARE / PLATFORM</a:t>
            </a:r>
            <a:endParaRPr lang="en-US" sz="1200" dirty="0"/>
          </a:p>
        </p:txBody>
      </p:sp>
      <p:sp>
        <p:nvSpPr>
          <p:cNvPr id="9" name="Text 7"/>
          <p:cNvSpPr txBox="1"/>
          <p:nvPr/>
        </p:nvSpPr>
        <p:spPr>
          <a:xfrm>
            <a:off x="6537960" y="2103120"/>
            <a:ext cx="4709160" cy="32004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Processor: i5 or above</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RAM: 8 GB minimum</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GPU: not required (CPU only)</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Sensors or devices: none</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Deployment: local notebook / Colab</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Version control: GitHub (team repository)</a:t>
            </a:r>
            <a:endParaRPr lang="en-US" sz="1350" dirty="0"/>
          </a:p>
        </p:txBody>
      </p:sp>
      <p:sp>
        <p:nvSpPr>
          <p:cNvPr id="10" name="Text 8"/>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1" name="Text 9"/>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9</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Work Completed / Demo</a:t>
            </a:r>
            <a:endParaRPr lang="en-US" sz="3100" dirty="0"/>
          </a:p>
        </p:txBody>
      </p:sp>
      <p:sp>
        <p:nvSpPr>
          <p:cNvPr id="4" name="Shape 2"/>
          <p:cNvSpPr/>
          <p:nvPr/>
        </p:nvSpPr>
        <p:spPr>
          <a:xfrm>
            <a:off x="548640" y="1463040"/>
            <a:ext cx="5852160" cy="566928"/>
          </a:xfrm>
          <a:prstGeom prst="roundRect">
            <a:avLst>
              <a:gd name="adj" fmla="val 12903"/>
            </a:avLst>
          </a:prstGeom>
          <a:solidFill>
            <a:srgbClr val="F1F4F9"/>
          </a:solidFill>
          <a:ln w="12700">
            <a:solidFill>
              <a:srgbClr val="DDE3EC"/>
            </a:solidFill>
            <a:prstDash val="solid"/>
          </a:ln>
        </p:spPr>
      </p:sp>
      <p:sp>
        <p:nvSpPr>
          <p:cNvPr id="5" name="Shape 3"/>
          <p:cNvSpPr/>
          <p:nvPr/>
        </p:nvSpPr>
        <p:spPr>
          <a:xfrm>
            <a:off x="777240" y="1655064"/>
            <a:ext cx="182880" cy="182880"/>
          </a:xfrm>
          <a:prstGeom prst="ellipse">
            <a:avLst/>
          </a:prstGeom>
          <a:solidFill>
            <a:srgbClr val="1E7A46"/>
          </a:solidFill>
          <a:ln/>
        </p:spPr>
      </p:sp>
      <p:sp>
        <p:nvSpPr>
          <p:cNvPr id="6" name="Text 4"/>
          <p:cNvSpPr txBox="1"/>
          <p:nvPr/>
        </p:nvSpPr>
        <p:spPr>
          <a:xfrm>
            <a:off x="1097280" y="1463040"/>
            <a:ext cx="3291840" cy="566928"/>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Literature survey</a:t>
            </a:r>
            <a:endParaRPr lang="en-US" sz="1350" dirty="0"/>
          </a:p>
        </p:txBody>
      </p:sp>
      <p:sp>
        <p:nvSpPr>
          <p:cNvPr id="7" name="Text 5"/>
          <p:cNvSpPr txBox="1"/>
          <p:nvPr/>
        </p:nvSpPr>
        <p:spPr>
          <a:xfrm>
            <a:off x="4480560" y="1463040"/>
            <a:ext cx="1691640" cy="566928"/>
          </a:xfrm>
          <a:prstGeom prst="rect">
            <a:avLst/>
          </a:prstGeom>
          <a:noFill/>
          <a:ln/>
        </p:spPr>
        <p:txBody>
          <a:bodyPr wrap="square" lIns="0" tIns="0" rIns="0" bIns="0" rtlCol="0" anchor="ctr"/>
          <a:lstStyle/>
          <a:p>
            <a:pPr algn="r" indent="0" marL="0">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8" name="Shape 6"/>
          <p:cNvSpPr/>
          <p:nvPr/>
        </p:nvSpPr>
        <p:spPr>
          <a:xfrm>
            <a:off x="548640" y="2176272"/>
            <a:ext cx="5852160" cy="566928"/>
          </a:xfrm>
          <a:prstGeom prst="roundRect">
            <a:avLst>
              <a:gd name="adj" fmla="val 12903"/>
            </a:avLst>
          </a:prstGeom>
          <a:solidFill>
            <a:srgbClr val="F1F4F9"/>
          </a:solidFill>
          <a:ln w="12700">
            <a:solidFill>
              <a:srgbClr val="DDE3EC"/>
            </a:solidFill>
            <a:prstDash val="solid"/>
          </a:ln>
        </p:spPr>
      </p:sp>
      <p:sp>
        <p:nvSpPr>
          <p:cNvPr id="9" name="Shape 7"/>
          <p:cNvSpPr/>
          <p:nvPr/>
        </p:nvSpPr>
        <p:spPr>
          <a:xfrm>
            <a:off x="777240" y="2368296"/>
            <a:ext cx="182880" cy="182880"/>
          </a:xfrm>
          <a:prstGeom prst="ellipse">
            <a:avLst/>
          </a:prstGeom>
          <a:solidFill>
            <a:srgbClr val="1E7A46"/>
          </a:solidFill>
          <a:ln/>
        </p:spPr>
      </p:sp>
      <p:sp>
        <p:nvSpPr>
          <p:cNvPr id="10" name="Text 8"/>
          <p:cNvSpPr txBox="1"/>
          <p:nvPr/>
        </p:nvSpPr>
        <p:spPr>
          <a:xfrm>
            <a:off x="1097280" y="2176272"/>
            <a:ext cx="3291840" cy="566928"/>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Dataset collection and EDA</a:t>
            </a:r>
            <a:endParaRPr lang="en-US" sz="1350" dirty="0"/>
          </a:p>
        </p:txBody>
      </p:sp>
      <p:sp>
        <p:nvSpPr>
          <p:cNvPr id="11" name="Text 9"/>
          <p:cNvSpPr txBox="1"/>
          <p:nvPr/>
        </p:nvSpPr>
        <p:spPr>
          <a:xfrm>
            <a:off x="4480560" y="2176272"/>
            <a:ext cx="1691640" cy="566928"/>
          </a:xfrm>
          <a:prstGeom prst="rect">
            <a:avLst/>
          </a:prstGeom>
          <a:noFill/>
          <a:ln/>
        </p:spPr>
        <p:txBody>
          <a:bodyPr wrap="square" lIns="0" tIns="0" rIns="0" bIns="0" rtlCol="0" anchor="ctr"/>
          <a:lstStyle/>
          <a:p>
            <a:pPr algn="r" indent="0" marL="0">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12" name="Shape 10"/>
          <p:cNvSpPr/>
          <p:nvPr/>
        </p:nvSpPr>
        <p:spPr>
          <a:xfrm>
            <a:off x="548640" y="2889504"/>
            <a:ext cx="5852160" cy="566928"/>
          </a:xfrm>
          <a:prstGeom prst="roundRect">
            <a:avLst>
              <a:gd name="adj" fmla="val 12903"/>
            </a:avLst>
          </a:prstGeom>
          <a:solidFill>
            <a:srgbClr val="F1F4F9"/>
          </a:solidFill>
          <a:ln w="12700">
            <a:solidFill>
              <a:srgbClr val="DDE3EC"/>
            </a:solidFill>
            <a:prstDash val="solid"/>
          </a:ln>
        </p:spPr>
      </p:sp>
      <p:sp>
        <p:nvSpPr>
          <p:cNvPr id="13" name="Shape 11"/>
          <p:cNvSpPr/>
          <p:nvPr/>
        </p:nvSpPr>
        <p:spPr>
          <a:xfrm>
            <a:off x="777240" y="3081528"/>
            <a:ext cx="182880" cy="182880"/>
          </a:xfrm>
          <a:prstGeom prst="ellipse">
            <a:avLst/>
          </a:prstGeom>
          <a:solidFill>
            <a:srgbClr val="1E7A46"/>
          </a:solidFill>
          <a:ln/>
        </p:spPr>
      </p:sp>
      <p:sp>
        <p:nvSpPr>
          <p:cNvPr id="14" name="Text 12"/>
          <p:cNvSpPr txBox="1"/>
          <p:nvPr/>
        </p:nvSpPr>
        <p:spPr>
          <a:xfrm>
            <a:off x="1097280" y="2889504"/>
            <a:ext cx="3291840" cy="566928"/>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Pre-processing pipeline</a:t>
            </a:r>
            <a:endParaRPr lang="en-US" sz="1350" dirty="0"/>
          </a:p>
        </p:txBody>
      </p:sp>
      <p:sp>
        <p:nvSpPr>
          <p:cNvPr id="15" name="Text 13"/>
          <p:cNvSpPr txBox="1"/>
          <p:nvPr/>
        </p:nvSpPr>
        <p:spPr>
          <a:xfrm>
            <a:off x="4480560" y="2889504"/>
            <a:ext cx="1691640" cy="566928"/>
          </a:xfrm>
          <a:prstGeom prst="rect">
            <a:avLst/>
          </a:prstGeom>
          <a:noFill/>
          <a:ln/>
        </p:spPr>
        <p:txBody>
          <a:bodyPr wrap="square" lIns="0" tIns="0" rIns="0" bIns="0" rtlCol="0" anchor="ctr"/>
          <a:lstStyle/>
          <a:p>
            <a:pPr algn="r" indent="0" marL="0">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16" name="Shape 14"/>
          <p:cNvSpPr/>
          <p:nvPr/>
        </p:nvSpPr>
        <p:spPr>
          <a:xfrm>
            <a:off x="548640" y="3602736"/>
            <a:ext cx="5852160" cy="566928"/>
          </a:xfrm>
          <a:prstGeom prst="roundRect">
            <a:avLst>
              <a:gd name="adj" fmla="val 12903"/>
            </a:avLst>
          </a:prstGeom>
          <a:solidFill>
            <a:srgbClr val="F1F4F9"/>
          </a:solidFill>
          <a:ln w="12700">
            <a:solidFill>
              <a:srgbClr val="DDE3EC"/>
            </a:solidFill>
            <a:prstDash val="solid"/>
          </a:ln>
        </p:spPr>
      </p:sp>
      <p:sp>
        <p:nvSpPr>
          <p:cNvPr id="17" name="Shape 15"/>
          <p:cNvSpPr/>
          <p:nvPr/>
        </p:nvSpPr>
        <p:spPr>
          <a:xfrm>
            <a:off x="777240" y="3794760"/>
            <a:ext cx="182880" cy="182880"/>
          </a:xfrm>
          <a:prstGeom prst="ellipse">
            <a:avLst/>
          </a:prstGeom>
          <a:solidFill>
            <a:srgbClr val="1E7A46"/>
          </a:solidFill>
          <a:ln/>
        </p:spPr>
      </p:sp>
      <p:sp>
        <p:nvSpPr>
          <p:cNvPr id="18" name="Text 16"/>
          <p:cNvSpPr txBox="1"/>
          <p:nvPr/>
        </p:nvSpPr>
        <p:spPr>
          <a:xfrm>
            <a:off x="1097280" y="3602736"/>
            <a:ext cx="3291840" cy="566928"/>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Model training and evaluation</a:t>
            </a:r>
            <a:endParaRPr lang="en-US" sz="1350" dirty="0"/>
          </a:p>
        </p:txBody>
      </p:sp>
      <p:sp>
        <p:nvSpPr>
          <p:cNvPr id="19" name="Text 17"/>
          <p:cNvSpPr txBox="1"/>
          <p:nvPr/>
        </p:nvSpPr>
        <p:spPr>
          <a:xfrm>
            <a:off x="4480560" y="3602736"/>
            <a:ext cx="1691640" cy="566928"/>
          </a:xfrm>
          <a:prstGeom prst="rect">
            <a:avLst/>
          </a:prstGeom>
          <a:noFill/>
          <a:ln/>
        </p:spPr>
        <p:txBody>
          <a:bodyPr wrap="square" lIns="0" tIns="0" rIns="0" bIns="0" rtlCol="0" anchor="ctr"/>
          <a:lstStyle/>
          <a:p>
            <a:pPr algn="r" indent="0" marL="0">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20" name="Shape 18"/>
          <p:cNvSpPr/>
          <p:nvPr/>
        </p:nvSpPr>
        <p:spPr>
          <a:xfrm>
            <a:off x="548640" y="4315968"/>
            <a:ext cx="5852160" cy="566928"/>
          </a:xfrm>
          <a:prstGeom prst="roundRect">
            <a:avLst>
              <a:gd name="adj" fmla="val 12903"/>
            </a:avLst>
          </a:prstGeom>
          <a:solidFill>
            <a:srgbClr val="F1F4F9"/>
          </a:solidFill>
          <a:ln w="12700">
            <a:solidFill>
              <a:srgbClr val="DDE3EC"/>
            </a:solidFill>
            <a:prstDash val="solid"/>
          </a:ln>
        </p:spPr>
      </p:sp>
      <p:sp>
        <p:nvSpPr>
          <p:cNvPr id="21" name="Shape 19"/>
          <p:cNvSpPr/>
          <p:nvPr/>
        </p:nvSpPr>
        <p:spPr>
          <a:xfrm>
            <a:off x="777240" y="4507992"/>
            <a:ext cx="182880" cy="182880"/>
          </a:xfrm>
          <a:prstGeom prst="ellipse">
            <a:avLst/>
          </a:prstGeom>
          <a:solidFill>
            <a:srgbClr val="1E7A46"/>
          </a:solidFill>
          <a:ln/>
        </p:spPr>
      </p:sp>
      <p:sp>
        <p:nvSpPr>
          <p:cNvPr id="22" name="Text 20"/>
          <p:cNvSpPr txBox="1"/>
          <p:nvPr/>
        </p:nvSpPr>
        <p:spPr>
          <a:xfrm>
            <a:off x="1097280" y="4315968"/>
            <a:ext cx="3291840" cy="566928"/>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SHAP explainability</a:t>
            </a:r>
            <a:endParaRPr lang="en-US" sz="1350" dirty="0"/>
          </a:p>
        </p:txBody>
      </p:sp>
      <p:sp>
        <p:nvSpPr>
          <p:cNvPr id="23" name="Text 21"/>
          <p:cNvSpPr txBox="1"/>
          <p:nvPr/>
        </p:nvSpPr>
        <p:spPr>
          <a:xfrm>
            <a:off x="4480560" y="4315968"/>
            <a:ext cx="1691640" cy="566928"/>
          </a:xfrm>
          <a:prstGeom prst="rect">
            <a:avLst/>
          </a:prstGeom>
          <a:noFill/>
          <a:ln/>
        </p:spPr>
        <p:txBody>
          <a:bodyPr wrap="square" lIns="0" tIns="0" rIns="0" bIns="0" rtlCol="0" anchor="ctr"/>
          <a:lstStyle/>
          <a:p>
            <a:pPr algn="r" indent="0" marL="0">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24" name="Shape 22"/>
          <p:cNvSpPr/>
          <p:nvPr/>
        </p:nvSpPr>
        <p:spPr>
          <a:xfrm>
            <a:off x="548640" y="5029200"/>
            <a:ext cx="5852160" cy="566928"/>
          </a:xfrm>
          <a:prstGeom prst="roundRect">
            <a:avLst>
              <a:gd name="adj" fmla="val 12903"/>
            </a:avLst>
          </a:prstGeom>
          <a:solidFill>
            <a:srgbClr val="F1F4F9"/>
          </a:solidFill>
          <a:ln w="12700">
            <a:solidFill>
              <a:srgbClr val="DDE3EC"/>
            </a:solidFill>
            <a:prstDash val="solid"/>
          </a:ln>
        </p:spPr>
      </p:sp>
      <p:sp>
        <p:nvSpPr>
          <p:cNvPr id="25" name="Shape 23"/>
          <p:cNvSpPr/>
          <p:nvPr/>
        </p:nvSpPr>
        <p:spPr>
          <a:xfrm>
            <a:off x="777240" y="5221224"/>
            <a:ext cx="182880" cy="182880"/>
          </a:xfrm>
          <a:prstGeom prst="ellipse">
            <a:avLst/>
          </a:prstGeom>
          <a:solidFill>
            <a:srgbClr val="6B7280"/>
          </a:solidFill>
          <a:ln/>
        </p:spPr>
      </p:sp>
      <p:sp>
        <p:nvSpPr>
          <p:cNvPr id="26" name="Text 24"/>
          <p:cNvSpPr txBox="1"/>
          <p:nvPr/>
        </p:nvSpPr>
        <p:spPr>
          <a:xfrm>
            <a:off x="1097280" y="5029200"/>
            <a:ext cx="3291840" cy="566928"/>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HR risk dashboard (optional)</a:t>
            </a:r>
            <a:endParaRPr lang="en-US" sz="1350" dirty="0"/>
          </a:p>
        </p:txBody>
      </p:sp>
      <p:sp>
        <p:nvSpPr>
          <p:cNvPr id="27" name="Text 25"/>
          <p:cNvSpPr txBox="1"/>
          <p:nvPr/>
        </p:nvSpPr>
        <p:spPr>
          <a:xfrm>
            <a:off x="4480560" y="5029200"/>
            <a:ext cx="1691640" cy="566928"/>
          </a:xfrm>
          <a:prstGeom prst="rect">
            <a:avLst/>
          </a:prstGeom>
          <a:noFill/>
          <a:ln/>
        </p:spPr>
        <p:txBody>
          <a:bodyPr wrap="square" lIns="0" tIns="0" rIns="0" bIns="0" rtlCol="0" anchor="ctr"/>
          <a:lstStyle/>
          <a:p>
            <a:pPr algn="r" indent="0" marL="0">
              <a:buNone/>
            </a:pPr>
            <a:r>
              <a:rPr lang="en-US" sz="1200" b="1" dirty="0">
                <a:solidFill>
                  <a:srgbClr val="6B7280"/>
                </a:solidFill>
                <a:latin typeface="Calibri" pitchFamily="34" charset="0"/>
                <a:ea typeface="Calibri" pitchFamily="34" charset="-122"/>
                <a:cs typeface="Calibri" pitchFamily="34" charset="-120"/>
              </a:rPr>
              <a:t>Pending</a:t>
            </a:r>
            <a:endParaRPr lang="en-US" sz="1200" dirty="0"/>
          </a:p>
        </p:txBody>
      </p:sp>
      <p:sp>
        <p:nvSpPr>
          <p:cNvPr id="28" name="Shape 26"/>
          <p:cNvSpPr/>
          <p:nvPr/>
        </p:nvSpPr>
        <p:spPr>
          <a:xfrm>
            <a:off x="6675120" y="1463040"/>
            <a:ext cx="4937760" cy="3246120"/>
          </a:xfrm>
          <a:prstGeom prst="roundRect">
            <a:avLst>
              <a:gd name="adj" fmla="val 2254"/>
            </a:avLst>
          </a:prstGeom>
          <a:solidFill>
            <a:srgbClr val="FFFFFF"/>
          </a:solidFill>
          <a:ln w="12700">
            <a:solidFill>
              <a:srgbClr val="9AA5B8"/>
            </a:solidFill>
            <a:prstDash val="dash"/>
          </a:ln>
        </p:spPr>
      </p:sp>
      <p:sp>
        <p:nvSpPr>
          <p:cNvPr id="29" name="Text 27"/>
          <p:cNvSpPr txBox="1"/>
          <p:nvPr/>
        </p:nvSpPr>
        <p:spPr>
          <a:xfrm>
            <a:off x="6812280" y="1463040"/>
            <a:ext cx="4663440" cy="324612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
            </a:r>
            <a:endParaRPr lang="en-US" sz="1200" dirty="0"/>
          </a:p>
        </p:txBody>
      </p:sp>
      <p:sp>
        <p:nvSpPr>
          <p:cNvPr id="30" name="Shape 28"/>
          <p:cNvSpPr/>
          <p:nvPr/>
        </p:nvSpPr>
        <p:spPr>
          <a:xfrm>
            <a:off x="6675120" y="4892040"/>
            <a:ext cx="4937760" cy="1005840"/>
          </a:xfrm>
          <a:prstGeom prst="roundRect">
            <a:avLst>
              <a:gd name="adj" fmla="val 7273"/>
            </a:avLst>
          </a:prstGeom>
          <a:solidFill>
            <a:srgbClr val="FDF6E6"/>
          </a:solidFill>
          <a:ln w="12700">
            <a:solidFill>
              <a:srgbClr val="DDE3EC"/>
            </a:solidFill>
            <a:prstDash val="solid"/>
          </a:ln>
        </p:spPr>
      </p:sp>
      <p:sp>
        <p:nvSpPr>
          <p:cNvPr id="31" name="Text 29"/>
          <p:cNvSpPr txBox="1"/>
          <p:nvPr/>
        </p:nvSpPr>
        <p:spPr>
          <a:xfrm>
            <a:off x="6903720" y="5029200"/>
            <a:ext cx="4480560" cy="73152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Result so far: LR recall 0.62, AUC 0.80; RF AUC 0.77. SHAP ranks overtime as the top driver of risk.</a:t>
            </a:r>
            <a:endParaRPr lang="en-US" sz="1250" dirty="0"/>
          </a:p>
        </p:txBody>
      </p:sp>
      <p:sp>
        <p:nvSpPr>
          <p:cNvPr id="32" name="Text 3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33" name="Text 3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pic>
        <p:nvPicPr>
          <p:cNvPr id="34" name="Picture 33" descr="f_shap_beeswarm.png"/>
          <p:cNvPicPr>
            <a:picLocks noChangeAspect="1"/>
          </p:cNvPicPr>
          <p:nvPr/>
        </p:nvPicPr>
        <p:blipFill>
          <a:blip r:embed="rId3"/>
          <a:stretch>
            <a:fillRect/>
          </a:stretch>
        </p:blipFill>
        <p:spPr>
          <a:xfrm>
            <a:off x="6766560" y="1573025"/>
            <a:ext cx="4754880" cy="30261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10</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Timeline &amp; Review Plan</a:t>
            </a:r>
            <a:endParaRPr lang="en-US" sz="3100" dirty="0"/>
          </a:p>
        </p:txBody>
      </p:sp>
      <p:sp>
        <p:nvSpPr>
          <p:cNvPr id="4" name="Shape 2"/>
          <p:cNvSpPr/>
          <p:nvPr/>
        </p:nvSpPr>
        <p:spPr>
          <a:xfrm>
            <a:off x="1645920" y="2880360"/>
            <a:ext cx="8915400" cy="0"/>
          </a:xfrm>
          <a:prstGeom prst="line">
            <a:avLst/>
          </a:prstGeom>
          <a:noFill/>
          <a:ln w="38100">
            <a:solidFill>
              <a:srgbClr val="DDE3EC"/>
            </a:solidFill>
            <a:prstDash val="solid"/>
          </a:ln>
        </p:spPr>
      </p:sp>
      <p:sp>
        <p:nvSpPr>
          <p:cNvPr id="5" name="Shape 3"/>
          <p:cNvSpPr/>
          <p:nvPr/>
        </p:nvSpPr>
        <p:spPr>
          <a:xfrm>
            <a:off x="1444752" y="2679192"/>
            <a:ext cx="402336" cy="402336"/>
          </a:xfrm>
          <a:prstGeom prst="ellipse">
            <a:avLst/>
          </a:prstGeom>
          <a:solidFill>
            <a:srgbClr val="A4161A"/>
          </a:solidFill>
          <a:ln w="25400">
            <a:solidFill>
              <a:srgbClr val="A4161A"/>
            </a:solidFill>
            <a:prstDash val="solid"/>
          </a:ln>
        </p:spPr>
      </p:sp>
      <p:sp>
        <p:nvSpPr>
          <p:cNvPr id="6" name="Text 4"/>
          <p:cNvSpPr txBox="1"/>
          <p:nvPr/>
        </p:nvSpPr>
        <p:spPr>
          <a:xfrm>
            <a:off x="4572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0</a:t>
            </a:r>
            <a:endParaRPr lang="en-US" sz="1500" dirty="0"/>
          </a:p>
        </p:txBody>
      </p:sp>
      <p:sp>
        <p:nvSpPr>
          <p:cNvPr id="7" name="Text 5"/>
          <p:cNvSpPr txBox="1"/>
          <p:nvPr/>
        </p:nvSpPr>
        <p:spPr>
          <a:xfrm>
            <a:off x="4572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2</a:t>
            </a:r>
            <a:endParaRPr lang="en-US" sz="1200" dirty="0"/>
          </a:p>
        </p:txBody>
      </p:sp>
      <p:sp>
        <p:nvSpPr>
          <p:cNvPr id="8" name="Text 6"/>
          <p:cNvSpPr txBox="1"/>
          <p:nvPr/>
        </p:nvSpPr>
        <p:spPr>
          <a:xfrm>
            <a:off x="320040" y="3520440"/>
            <a:ext cx="2651760" cy="822960"/>
          </a:xfrm>
          <a:prstGeom prst="rect">
            <a:avLst/>
          </a:prstGeom>
          <a:noFill/>
          <a:ln/>
        </p:spPr>
        <p:txBody>
          <a:bodyPr wrap="square" lIns="0" tIns="0" rIns="0" bIns="0" rtlCol="0" anchor="ctr"/>
          <a:lstStyle/>
          <a:p>
            <a:pPr algn="ctr" indent="0" marL="0">
              <a:buNone/>
            </a:pPr>
            <a:r>
              <a:rPr lang="en-US" sz="1250" dirty="0">
                <a:solidFill>
                  <a:srgbClr val="1F2430"/>
                </a:solidFill>
                <a:latin typeface="Calibri" pitchFamily="34" charset="0"/>
                <a:ea typeface="Calibri" pitchFamily="34" charset="-122"/>
                <a:cs typeface="Calibri" pitchFamily="34" charset="-120"/>
              </a:rPr>
              <a:t>Title, abstract, team roles finalised</a:t>
            </a:r>
            <a:endParaRPr lang="en-US" sz="1250" dirty="0"/>
          </a:p>
        </p:txBody>
      </p:sp>
      <p:sp>
        <p:nvSpPr>
          <p:cNvPr id="9" name="Shape 7"/>
          <p:cNvSpPr/>
          <p:nvPr/>
        </p:nvSpPr>
        <p:spPr>
          <a:xfrm>
            <a:off x="4416552" y="2679192"/>
            <a:ext cx="402336" cy="402336"/>
          </a:xfrm>
          <a:prstGeom prst="ellipse">
            <a:avLst/>
          </a:prstGeom>
          <a:solidFill>
            <a:srgbClr val="A4161A"/>
          </a:solidFill>
          <a:ln w="25400">
            <a:solidFill>
              <a:srgbClr val="A4161A"/>
            </a:solidFill>
            <a:prstDash val="solid"/>
          </a:ln>
        </p:spPr>
      </p:sp>
      <p:sp>
        <p:nvSpPr>
          <p:cNvPr id="10" name="Text 8"/>
          <p:cNvSpPr txBox="1"/>
          <p:nvPr/>
        </p:nvSpPr>
        <p:spPr>
          <a:xfrm>
            <a:off x="34290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1</a:t>
            </a:r>
            <a:endParaRPr lang="en-US" sz="1500" dirty="0"/>
          </a:p>
        </p:txBody>
      </p:sp>
      <p:sp>
        <p:nvSpPr>
          <p:cNvPr id="11" name="Text 9"/>
          <p:cNvSpPr txBox="1"/>
          <p:nvPr/>
        </p:nvSpPr>
        <p:spPr>
          <a:xfrm>
            <a:off x="34290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5</a:t>
            </a:r>
            <a:endParaRPr lang="en-US" sz="1200" dirty="0"/>
          </a:p>
        </p:txBody>
      </p:sp>
      <p:sp>
        <p:nvSpPr>
          <p:cNvPr id="12" name="Text 10"/>
          <p:cNvSpPr txBox="1"/>
          <p:nvPr/>
        </p:nvSpPr>
        <p:spPr>
          <a:xfrm>
            <a:off x="3291840" y="3520440"/>
            <a:ext cx="2651760" cy="822960"/>
          </a:xfrm>
          <a:prstGeom prst="rect">
            <a:avLst/>
          </a:prstGeom>
          <a:noFill/>
          <a:ln/>
        </p:spPr>
        <p:txBody>
          <a:bodyPr wrap="square" lIns="0" tIns="0" rIns="0" bIns="0" rtlCol="0" anchor="ctr"/>
          <a:lstStyle/>
          <a:p>
            <a:pPr algn="ctr" indent="0" marL="0">
              <a:buNone/>
            </a:pPr>
            <a:r>
              <a:rPr lang="en-US" sz="1250" dirty="0">
                <a:solidFill>
                  <a:srgbClr val="1F2430"/>
                </a:solidFill>
                <a:latin typeface="Calibri" pitchFamily="34" charset="0"/>
                <a:ea typeface="Calibri" pitchFamily="34" charset="-122"/>
                <a:cs typeface="Calibri" pitchFamily="34" charset="-120"/>
              </a:rPr>
              <a:t>Literature survey, gap, objectives</a:t>
            </a:r>
            <a:endParaRPr lang="en-US" sz="1250" dirty="0"/>
          </a:p>
        </p:txBody>
      </p:sp>
      <p:sp>
        <p:nvSpPr>
          <p:cNvPr id="13" name="Shape 11"/>
          <p:cNvSpPr/>
          <p:nvPr/>
        </p:nvSpPr>
        <p:spPr>
          <a:xfrm>
            <a:off x="7388352" y="2679192"/>
            <a:ext cx="402336" cy="402336"/>
          </a:xfrm>
          <a:prstGeom prst="ellipse">
            <a:avLst/>
          </a:prstGeom>
          <a:solidFill>
            <a:srgbClr val="FFFFFF"/>
          </a:solidFill>
          <a:ln w="25400">
            <a:solidFill>
              <a:srgbClr val="9AA5B8"/>
            </a:solidFill>
            <a:prstDash val="solid"/>
          </a:ln>
        </p:spPr>
      </p:sp>
      <p:sp>
        <p:nvSpPr>
          <p:cNvPr id="14" name="Text 12"/>
          <p:cNvSpPr txBox="1"/>
          <p:nvPr/>
        </p:nvSpPr>
        <p:spPr>
          <a:xfrm>
            <a:off x="64008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2</a:t>
            </a:r>
            <a:endParaRPr lang="en-US" sz="1500" dirty="0"/>
          </a:p>
        </p:txBody>
      </p:sp>
      <p:sp>
        <p:nvSpPr>
          <p:cNvPr id="15" name="Text 13"/>
          <p:cNvSpPr txBox="1"/>
          <p:nvPr/>
        </p:nvSpPr>
        <p:spPr>
          <a:xfrm>
            <a:off x="64008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9</a:t>
            </a:r>
            <a:endParaRPr lang="en-US" sz="1200" dirty="0"/>
          </a:p>
        </p:txBody>
      </p:sp>
      <p:sp>
        <p:nvSpPr>
          <p:cNvPr id="16" name="Text 14"/>
          <p:cNvSpPr txBox="1"/>
          <p:nvPr/>
        </p:nvSpPr>
        <p:spPr>
          <a:xfrm>
            <a:off x="6263640" y="3520440"/>
            <a:ext cx="2651760" cy="822960"/>
          </a:xfrm>
          <a:prstGeom prst="rect">
            <a:avLst/>
          </a:prstGeom>
          <a:noFill/>
          <a:ln/>
        </p:spPr>
        <p:txBody>
          <a:bodyPr wrap="square" lIns="0" tIns="0" rIns="0" bIns="0" rtlCol="0" anchor="ctr"/>
          <a:lstStyle/>
          <a:p>
            <a:pPr algn="ctr" indent="0" marL="0">
              <a:buNone/>
            </a:pPr>
            <a:r>
              <a:rPr lang="en-US" sz="1250" dirty="0">
                <a:solidFill>
                  <a:srgbClr val="1F2430"/>
                </a:solidFill>
                <a:latin typeface="Calibri" pitchFamily="34" charset="0"/>
                <a:ea typeface="Calibri" pitchFamily="34" charset="-122"/>
                <a:cs typeface="Calibri" pitchFamily="34" charset="-120"/>
              </a:rPr>
              <a:t>EDA, models and SHAP implemented</a:t>
            </a:r>
            <a:endParaRPr lang="en-US" sz="1250" dirty="0"/>
          </a:p>
        </p:txBody>
      </p:sp>
      <p:sp>
        <p:nvSpPr>
          <p:cNvPr id="17" name="Shape 15"/>
          <p:cNvSpPr/>
          <p:nvPr/>
        </p:nvSpPr>
        <p:spPr>
          <a:xfrm>
            <a:off x="10360152" y="2679192"/>
            <a:ext cx="402336" cy="402336"/>
          </a:xfrm>
          <a:prstGeom prst="ellipse">
            <a:avLst/>
          </a:prstGeom>
          <a:solidFill>
            <a:srgbClr val="FFFFFF"/>
          </a:solidFill>
          <a:ln w="25400">
            <a:solidFill>
              <a:srgbClr val="9AA5B8"/>
            </a:solidFill>
            <a:prstDash val="solid"/>
          </a:ln>
        </p:spPr>
      </p:sp>
      <p:sp>
        <p:nvSpPr>
          <p:cNvPr id="18" name="Text 16"/>
          <p:cNvSpPr txBox="1"/>
          <p:nvPr/>
        </p:nvSpPr>
        <p:spPr>
          <a:xfrm>
            <a:off x="93726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Final</a:t>
            </a:r>
            <a:endParaRPr lang="en-US" sz="1500" dirty="0"/>
          </a:p>
        </p:txBody>
      </p:sp>
      <p:sp>
        <p:nvSpPr>
          <p:cNvPr id="19" name="Text 17"/>
          <p:cNvSpPr txBox="1"/>
          <p:nvPr/>
        </p:nvSpPr>
        <p:spPr>
          <a:xfrm>
            <a:off x="93726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14</a:t>
            </a:r>
            <a:endParaRPr lang="en-US" sz="1200" dirty="0"/>
          </a:p>
        </p:txBody>
      </p:sp>
      <p:sp>
        <p:nvSpPr>
          <p:cNvPr id="20" name="Text 18"/>
          <p:cNvSpPr txBox="1"/>
          <p:nvPr/>
        </p:nvSpPr>
        <p:spPr>
          <a:xfrm>
            <a:off x="9235440" y="3520440"/>
            <a:ext cx="2651760" cy="822960"/>
          </a:xfrm>
          <a:prstGeom prst="rect">
            <a:avLst/>
          </a:prstGeom>
          <a:noFill/>
          <a:ln/>
        </p:spPr>
        <p:txBody>
          <a:bodyPr wrap="square" lIns="0" tIns="0" rIns="0" bIns="0" rtlCol="0" anchor="ctr"/>
          <a:lstStyle/>
          <a:p>
            <a:pPr algn="ctr" indent="0" marL="0">
              <a:buNone/>
            </a:pPr>
            <a:r>
              <a:rPr lang="en-US" sz="1250" dirty="0">
                <a:solidFill>
                  <a:srgbClr val="1F2430"/>
                </a:solidFill>
                <a:latin typeface="Calibri" pitchFamily="34" charset="0"/>
                <a:ea typeface="Calibri" pitchFamily="34" charset="-122"/>
                <a:cs typeface="Calibri" pitchFamily="34" charset="-120"/>
              </a:rPr>
              <a:t>Full demo, results, report</a:t>
            </a:r>
            <a:endParaRPr lang="en-US" sz="1250" dirty="0"/>
          </a:p>
        </p:txBody>
      </p:sp>
      <p:sp>
        <p:nvSpPr>
          <p:cNvPr id="21" name="Text 19"/>
          <p:cNvSpPr txBox="1"/>
          <p:nvPr/>
        </p:nvSpPr>
        <p:spPr>
          <a:xfrm>
            <a:off x="548640" y="4434840"/>
            <a:ext cx="11064240" cy="32004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Filled circles = completed reviews. Update this slide before every review.</a:t>
            </a:r>
            <a:endParaRPr lang="en-US" sz="1200" dirty="0"/>
          </a:p>
        </p:txBody>
      </p:sp>
      <p:sp>
        <p:nvSpPr>
          <p:cNvPr id="22" name="Shape 20"/>
          <p:cNvSpPr/>
          <p:nvPr/>
        </p:nvSpPr>
        <p:spPr>
          <a:xfrm>
            <a:off x="548640" y="4937760"/>
            <a:ext cx="11064240" cy="1051560"/>
          </a:xfrm>
          <a:prstGeom prst="roundRect">
            <a:avLst>
              <a:gd name="adj" fmla="val 6957"/>
            </a:avLst>
          </a:prstGeom>
          <a:solidFill>
            <a:srgbClr val="FDF6E6"/>
          </a:solidFill>
          <a:ln w="12700">
            <a:solidFill>
              <a:srgbClr val="DDE3EC"/>
            </a:solidFill>
            <a:prstDash val="solid"/>
          </a:ln>
        </p:spPr>
      </p:sp>
      <p:sp>
        <p:nvSpPr>
          <p:cNvPr id="23" name="Text 21"/>
          <p:cNvSpPr txBox="1"/>
          <p:nvPr/>
        </p:nvSpPr>
        <p:spPr>
          <a:xfrm>
            <a:off x="868680" y="4937760"/>
            <a:ext cx="10424160" cy="1051560"/>
          </a:xfrm>
          <a:prstGeom prst="rect">
            <a:avLst/>
          </a:prstGeom>
          <a:noFill/>
          <a:ln/>
        </p:spPr>
        <p:txBody>
          <a:bodyPr wrap="square" lIns="0" tIns="0" rIns="0" bIns="0" rtlCol="0" anchor="ctr"/>
          <a:lstStyle/>
          <a:p>
            <a:pPr indent="0" marL="0">
              <a:buNone/>
            </a:pPr>
            <a:r>
              <a:rPr lang="en-US" sz="1350" b="1" dirty="0">
                <a:solidFill>
                  <a:srgbClr val="A4161A"/>
                </a:solidFill>
                <a:latin typeface="Calibri" pitchFamily="34" charset="0"/>
                <a:ea typeface="Calibri" pitchFamily="34" charset="-122"/>
                <a:cs typeface="Calibri" pitchFamily="34" charset="-120"/>
              </a:rPr>
              <a:t>What the panel checks every time:  </a:t>
            </a:r>
            <a:pPr indent="0" marL="0">
              <a:buNone/>
            </a:pPr>
            <a:r>
              <a:rPr lang="en-US" sz="1350" dirty="0">
                <a:solidFill>
                  <a:srgbClr val="1F2430"/>
                </a:solidFill>
                <a:latin typeface="Calibri" pitchFamily="34" charset="0"/>
                <a:ea typeface="Calibri" pitchFamily="34" charset="-122"/>
                <a:cs typeface="Calibri" pitchFamily="34" charset="-120"/>
              </a:rPr>
              <a:t>progress since the last review, honesty of the status you claim, and whether each objective still has enough weeks left to finish.</a:t>
            </a:r>
            <a:endParaRPr lang="en-US" sz="135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Expected Outcome &amp; Conclusion</a:t>
            </a:r>
            <a:endParaRPr lang="en-US" sz="3100" dirty="0"/>
          </a:p>
        </p:txBody>
      </p:sp>
      <p:sp>
        <p:nvSpPr>
          <p:cNvPr id="4" name="Shape 2"/>
          <p:cNvSpPr/>
          <p:nvPr/>
        </p:nvSpPr>
        <p:spPr>
          <a:xfrm>
            <a:off x="548640" y="1463040"/>
            <a:ext cx="3520440" cy="2194560"/>
          </a:xfrm>
          <a:prstGeom prst="roundRect">
            <a:avLst>
              <a:gd name="adj" fmla="val 3333"/>
            </a:avLst>
          </a:prstGeom>
          <a:solidFill>
            <a:srgbClr val="F1F4F9"/>
          </a:solidFill>
          <a:ln w="12700">
            <a:solidFill>
              <a:srgbClr val="DDE3EC"/>
            </a:solidFill>
            <a:prstDash val="solid"/>
          </a:ln>
        </p:spPr>
      </p:sp>
      <p:sp>
        <p:nvSpPr>
          <p:cNvPr id="5" name="Text 3"/>
          <p:cNvSpPr txBox="1"/>
          <p:nvPr/>
        </p:nvSpPr>
        <p:spPr>
          <a:xfrm>
            <a:off x="822960" y="1691640"/>
            <a:ext cx="2971800" cy="274320"/>
          </a:xfrm>
          <a:prstGeom prst="rect">
            <a:avLst/>
          </a:prstGeom>
          <a:noFill/>
          <a:ln/>
        </p:spPr>
        <p:txBody>
          <a:bodyPr wrap="square" lIns="0" tIns="0" rIns="0" bIns="0" rtlCol="0" anchor="ctr"/>
          <a:lstStyle/>
          <a:p>
            <a:pPr indent="0" marL="0">
              <a:buNone/>
            </a:pPr>
            <a:r>
              <a:rPr lang="en-US" sz="1050" b="1" spc="150" kern="0" dirty="0">
                <a:solidFill>
                  <a:srgbClr val="A4161A"/>
                </a:solidFill>
                <a:latin typeface="Calibri" pitchFamily="34" charset="0"/>
                <a:ea typeface="Calibri" pitchFamily="34" charset="-122"/>
                <a:cs typeface="Calibri" pitchFamily="34" charset="-120"/>
              </a:rPr>
              <a:t>DELIVERABLE</a:t>
            </a:r>
            <a:endParaRPr lang="en-US" sz="1050" dirty="0"/>
          </a:p>
        </p:txBody>
      </p:sp>
      <p:sp>
        <p:nvSpPr>
          <p:cNvPr id="6" name="Text 4"/>
          <p:cNvSpPr txBox="1"/>
          <p:nvPr/>
        </p:nvSpPr>
        <p:spPr>
          <a:xfrm>
            <a:off x="822960" y="2057400"/>
            <a:ext cx="2971800" cy="1371600"/>
          </a:xfrm>
          <a:prstGeom prst="rect">
            <a:avLst/>
          </a:prstGeom>
          <a:noFill/>
          <a:ln/>
        </p:spPr>
        <p:txBody>
          <a:bodyPr wrap="square" lIns="0" tIns="0" rIns="0" bIns="0" rtlCol="0" anchor="ctr"/>
          <a:lstStyle/>
          <a:p>
            <a:pPr indent="0" marL="0">
              <a:buNone/>
            </a:pPr>
            <a:r>
              <a:rPr lang="en-US" sz="1500" b="1" dirty="0">
                <a:solidFill>
                  <a:srgbClr val="1B2A55"/>
                </a:solidFill>
                <a:latin typeface="Cambria" pitchFamily="34" charset="0"/>
                <a:ea typeface="Cambria" pitchFamily="34" charset="-122"/>
                <a:cs typeface="Cambria" pitchFamily="34" charset="-120"/>
              </a:rPr>
              <a:t>A reproducible attrition-risk pipeline: LR and RF models with SHAP explanations</a:t>
            </a:r>
            <a:endParaRPr lang="en-US" sz="1600" dirty="0"/>
          </a:p>
        </p:txBody>
      </p:sp>
      <p:sp>
        <p:nvSpPr>
          <p:cNvPr id="7" name="Shape 5"/>
          <p:cNvSpPr/>
          <p:nvPr/>
        </p:nvSpPr>
        <p:spPr>
          <a:xfrm>
            <a:off x="4297680" y="1463040"/>
            <a:ext cx="3520440" cy="2194560"/>
          </a:xfrm>
          <a:prstGeom prst="roundRect">
            <a:avLst>
              <a:gd name="adj" fmla="val 3333"/>
            </a:avLst>
          </a:prstGeom>
          <a:solidFill>
            <a:srgbClr val="1B2A55"/>
          </a:solidFill>
          <a:ln w="12700">
            <a:solidFill>
              <a:srgbClr val="1B2A55"/>
            </a:solidFill>
            <a:prstDash val="solid"/>
          </a:ln>
        </p:spPr>
      </p:sp>
      <p:sp>
        <p:nvSpPr>
          <p:cNvPr id="8" name="Text 6"/>
          <p:cNvSpPr txBox="1"/>
          <p:nvPr/>
        </p:nvSpPr>
        <p:spPr>
          <a:xfrm>
            <a:off x="4572000" y="1691640"/>
            <a:ext cx="2971800" cy="274320"/>
          </a:xfrm>
          <a:prstGeom prst="rect">
            <a:avLst/>
          </a:prstGeom>
          <a:noFill/>
          <a:ln/>
        </p:spPr>
        <p:txBody>
          <a:bodyPr wrap="square" lIns="0" tIns="0" rIns="0" bIns="0" rtlCol="0" anchor="ctr"/>
          <a:lstStyle/>
          <a:p>
            <a:pPr indent="0" marL="0">
              <a:buNone/>
            </a:pPr>
            <a:r>
              <a:rPr lang="en-US" sz="1050" b="1" spc="150" kern="0" dirty="0">
                <a:solidFill>
                  <a:srgbClr val="C8A02C"/>
                </a:solidFill>
                <a:latin typeface="Calibri" pitchFamily="34" charset="0"/>
                <a:ea typeface="Calibri" pitchFamily="34" charset="-122"/>
                <a:cs typeface="Calibri" pitchFamily="34" charset="-120"/>
              </a:rPr>
              <a:t>MEASURABLE TARGET</a:t>
            </a:r>
            <a:endParaRPr lang="en-US" sz="1050" dirty="0"/>
          </a:p>
        </p:txBody>
      </p:sp>
      <p:sp>
        <p:nvSpPr>
          <p:cNvPr id="9" name="Text 7"/>
          <p:cNvSpPr txBox="1"/>
          <p:nvPr/>
        </p:nvSpPr>
        <p:spPr>
          <a:xfrm>
            <a:off x="4572000" y="2057400"/>
            <a:ext cx="2971800" cy="13716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Test set: LR recall 0.62 / AUC 0.80; RF recall 0.72 at threshold 0.30</a:t>
            </a:r>
            <a:endParaRPr lang="en-US" sz="1600" dirty="0"/>
          </a:p>
        </p:txBody>
      </p:sp>
      <p:sp>
        <p:nvSpPr>
          <p:cNvPr id="10" name="Shape 8"/>
          <p:cNvSpPr/>
          <p:nvPr/>
        </p:nvSpPr>
        <p:spPr>
          <a:xfrm>
            <a:off x="8046720" y="1463040"/>
            <a:ext cx="3520440" cy="2194560"/>
          </a:xfrm>
          <a:prstGeom prst="roundRect">
            <a:avLst>
              <a:gd name="adj" fmla="val 3333"/>
            </a:avLst>
          </a:prstGeom>
          <a:solidFill>
            <a:srgbClr val="F1F4F9"/>
          </a:solidFill>
          <a:ln w="12700">
            <a:solidFill>
              <a:srgbClr val="DDE3EC"/>
            </a:solidFill>
            <a:prstDash val="solid"/>
          </a:ln>
        </p:spPr>
      </p:sp>
      <p:sp>
        <p:nvSpPr>
          <p:cNvPr id="11" name="Text 9"/>
          <p:cNvSpPr txBox="1"/>
          <p:nvPr/>
        </p:nvSpPr>
        <p:spPr>
          <a:xfrm>
            <a:off x="8321040" y="1691640"/>
            <a:ext cx="2971800" cy="274320"/>
          </a:xfrm>
          <a:prstGeom prst="rect">
            <a:avLst/>
          </a:prstGeom>
          <a:noFill/>
          <a:ln/>
        </p:spPr>
        <p:txBody>
          <a:bodyPr wrap="square" lIns="0" tIns="0" rIns="0" bIns="0" rtlCol="0" anchor="ctr"/>
          <a:lstStyle/>
          <a:p>
            <a:pPr indent="0" marL="0">
              <a:buNone/>
            </a:pPr>
            <a:r>
              <a:rPr lang="en-US" sz="1050" b="1" spc="150" kern="0" dirty="0">
                <a:solidFill>
                  <a:srgbClr val="A4161A"/>
                </a:solidFill>
                <a:latin typeface="Calibri" pitchFamily="34" charset="0"/>
                <a:ea typeface="Calibri" pitchFamily="34" charset="-122"/>
                <a:cs typeface="Calibri" pitchFamily="34" charset="-120"/>
              </a:rPr>
              <a:t>BEYOND THE LAB</a:t>
            </a:r>
            <a:endParaRPr lang="en-US" sz="1050" dirty="0"/>
          </a:p>
        </p:txBody>
      </p:sp>
      <p:sp>
        <p:nvSpPr>
          <p:cNvPr id="12" name="Text 10"/>
          <p:cNvSpPr txBox="1"/>
          <p:nvPr/>
        </p:nvSpPr>
        <p:spPr>
          <a:xfrm>
            <a:off x="8321040" y="2057400"/>
            <a:ext cx="2971800" cy="1371600"/>
          </a:xfrm>
          <a:prstGeom prst="rect">
            <a:avLst/>
          </a:prstGeom>
          <a:noFill/>
          <a:ln/>
        </p:spPr>
        <p:txBody>
          <a:bodyPr wrap="square" lIns="0" tIns="0" rIns="0" bIns="0" rtlCol="0" anchor="ctr"/>
          <a:lstStyle/>
          <a:p>
            <a:pPr indent="0" marL="0">
              <a:buNone/>
            </a:pPr>
            <a:r>
              <a:rPr lang="en-US" sz="1500" b="1" dirty="0">
                <a:solidFill>
                  <a:srgbClr val="1B2A55"/>
                </a:solidFill>
                <a:latin typeface="Cambria" pitchFamily="34" charset="0"/>
                <a:ea typeface="Cambria" pitchFamily="34" charset="-122"/>
                <a:cs typeface="Cambria" pitchFamily="34" charset="-120"/>
              </a:rPr>
              <a:t>HR teams can prioritise retention talks; needs re-validation on real company data</a:t>
            </a:r>
            <a:endParaRPr lang="en-US" sz="1600" dirty="0"/>
          </a:p>
        </p:txBody>
      </p:sp>
      <p:sp>
        <p:nvSpPr>
          <p:cNvPr id="13" name="Shape 11"/>
          <p:cNvSpPr/>
          <p:nvPr/>
        </p:nvSpPr>
        <p:spPr>
          <a:xfrm>
            <a:off x="548640" y="3931920"/>
            <a:ext cx="11064240" cy="1920240"/>
          </a:xfrm>
          <a:prstGeom prst="roundRect">
            <a:avLst>
              <a:gd name="adj" fmla="val 3810"/>
            </a:avLst>
          </a:prstGeom>
          <a:solidFill>
            <a:srgbClr val="F1F4F9"/>
          </a:solidFill>
          <a:ln w="12700">
            <a:solidFill>
              <a:srgbClr val="DDE3EC"/>
            </a:solidFill>
            <a:prstDash val="solid"/>
          </a:ln>
        </p:spPr>
      </p:sp>
      <p:sp>
        <p:nvSpPr>
          <p:cNvPr id="14" name="Text 12"/>
          <p:cNvSpPr txBox="1"/>
          <p:nvPr/>
        </p:nvSpPr>
        <p:spPr>
          <a:xfrm>
            <a:off x="868680" y="4160520"/>
            <a:ext cx="10424160" cy="274320"/>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CONCLUSION</a:t>
            </a:r>
            <a:endParaRPr lang="en-US" sz="1050" dirty="0"/>
          </a:p>
        </p:txBody>
      </p:sp>
      <p:sp>
        <p:nvSpPr>
          <p:cNvPr id="15" name="Text 13"/>
          <p:cNvSpPr txBox="1"/>
          <p:nvPr/>
        </p:nvSpPr>
        <p:spPr>
          <a:xfrm>
            <a:off x="868680" y="4480560"/>
            <a:ext cx="10424160" cy="118872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We took up attrition prediction that HR can trust: prior work stresses accuracy and gives few per-employee reasons. On the IBM HR data, LR was better at finding leavers (recall 0.62), while RF explained by SHAP showed overtime, age, stock options, income and tenure as key drivers. Future scope: cross-validated threshold tuning, boosting models, fairness audit and an HR dashboard.</a:t>
            </a:r>
            <a:endParaRPr lang="en-US" sz="1450" dirty="0"/>
          </a:p>
        </p:txBody>
      </p:sp>
      <p:sp>
        <p:nvSpPr>
          <p:cNvPr id="16" name="Text 1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7" name="Text 15"/>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References</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IEEE style, numbered in order of first citation. [1]-[8] are the studied literature; [9]-[13] support methods and data.</a:t>
            </a:r>
            <a:endParaRPr lang="en-US" sz="1050" dirty="0"/>
          </a:p>
        </p:txBody>
      </p:sp>
      <p:sp>
        <p:nvSpPr>
          <p:cNvPr id="5" name="Shape 3"/>
          <p:cNvSpPr/>
          <p:nvPr/>
        </p:nvSpPr>
        <p:spPr>
          <a:xfrm>
            <a:off x="548640" y="1508760"/>
            <a:ext cx="11064240" cy="4526280"/>
          </a:xfrm>
          <a:prstGeom prst="roundRect">
            <a:avLst>
              <a:gd name="adj" fmla="val 2000"/>
            </a:avLst>
          </a:prstGeom>
          <a:solidFill>
            <a:srgbClr val="F1F4F9"/>
          </a:solidFill>
          <a:ln w="12700">
            <a:solidFill>
              <a:srgbClr val="DDE3EC"/>
            </a:solidFill>
            <a:prstDash val="solid"/>
          </a:ln>
        </p:spPr>
      </p:sp>
      <p:sp>
        <p:nvSpPr>
          <p:cNvPr id="6" name="Text 4"/>
          <p:cNvSpPr txBox="1"/>
          <p:nvPr/>
        </p:nvSpPr>
        <p:spPr>
          <a:xfrm>
            <a:off x="868680" y="1645920"/>
            <a:ext cx="10424160" cy="4297680"/>
          </a:xfrm>
          <a:prstGeom prst="rect">
            <a:avLst/>
          </a:prstGeom>
          <a:noFill/>
          <a:ln/>
        </p:spPr>
        <p:txBody>
          <a:bodyPr wrap="square" lIns="0" tIns="0" rIns="0" bIns="0" rtlCol="0" anchor="ctr"/>
          <a:lstStyle/>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[1]  M. I. Alyousef, H. W. Khan and M. U. Sattar, "A hybrid predictive model for employee turnover," Information, vol. 17, no. 2, Art. 208, 2026.</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[2]  M. E. Ansari et al., "An AI-driven management information system for employee attrition prediction," Computers, vol. 15, no. 7, Art. 400, 2026.</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[3]  K. Mohiuddin et al., "Retention is all you need," in Proc. ACM CIKM, 2023, pp. 4752-4758.</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[4]  A. Raza et al., "Predicting employee attrition using machine learning approaches," Appl. Sci., vol. 12, no. 13, Art. 6424, 2022.</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[5]  D. Chung, J. Yun, J. Lee and Y. Jeon, "Predictive model of employee attrition based on stacking ensemble learning," Expert Syst. Appl., vol. 215, Art. 119364, 2023.</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[6]  S. M. Varkiani et al., "Predicting employee attrition and explaining its determinants," Expert Syst. Appl., vol. 272, Art. 126575, 2025.</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[7]  H. Talebi, A. K. Bardsiri and V. K. Bardsiri, "Developing a hybrid ML model for employee turnover prediction," J. Open Innov., vol. 11, Art. 100557, 2025.</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[8]  M. Elhosseini, "Integrating ML and explainable AI for employee attrition prediction in HR analytics," Zayed Univ. Scholars, 2026.</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[9]  S. M. Lundberg and S.-I. Lee, "A unified approach to interpreting model predictions," in Proc. NeurIPS, 2017, pp. 4765-4774.</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[10]  S. M. Lundberg et al., "From local explanations to global understanding with explainable AI for trees," Nature Mach. Intell., vol. 2, pp. 56-67, 2020.</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[11]  L. Breiman, "Random forests," Mach. Learn., vol. 45, no. 1, pp. 5-32, 2001.</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[12]  P. Subhash, "IBM HR Analytics Employee Attrition &amp; Performance," Kaggle. [Online]. Available: kaggle.com/datasets/pavansubhasht/ibm-hr-analytics-attrition-dataset</a:t>
            </a:r>
            <a:endParaRPr lang="en-US" sz="1300" dirty="0"/>
          </a:p>
          <a:p>
            <a:pPr indent="0" marL="0">
              <a:spcAft>
                <a:spcPts val="1200"/>
              </a:spcAft>
              <a:buNone/>
            </a:pPr>
            <a:r>
              <a:rPr lang="en-US" sz="1050" dirty="0">
                <a:solidFill>
                  <a:srgbClr val="1F2430"/>
                </a:solidFill>
                <a:latin typeface="Calibri" pitchFamily="34" charset="0"/>
                <a:ea typeface="Calibri" pitchFamily="34" charset="-122"/>
                <a:cs typeface="Calibri" pitchFamily="34" charset="-120"/>
              </a:rPr>
              <a:t>[13]  F. Pedregosa et al., "Scikit-learn: Machine learning in Python," J. Mach. Learn. Res., vol. 12, pp. 2825-2830, 2011.</a:t>
            </a:r>
            <a:endParaRPr lang="en-US" sz="1300" dirty="0"/>
          </a:p>
        </p:txBody>
      </p:sp>
      <p:sp>
        <p:nvSpPr>
          <p:cNvPr id="7" name="Text 5"/>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100" b="1" i="1" dirty="0">
                <a:solidFill>
                  <a:srgbClr val="A4161A"/>
                </a:solidFill>
                <a:latin typeface="Calibri" pitchFamily="34" charset="0"/>
                <a:ea typeface="Calibri" pitchFamily="34" charset="-122"/>
                <a:cs typeface="Calibri" pitchFamily="34" charset="-120"/>
              </a:rPr>
              <a:t>Slide 5 shows [1]-[5]; [6]-[8] were also surveyed.</a:t>
            </a:r>
            <a:endParaRPr lang="en-US" sz="125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9" name="Text 7"/>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B3A"/>
        </a:solidFill>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txBox="1"/>
          <p:nvPr/>
        </p:nvSpPr>
        <p:spPr>
          <a:xfrm>
            <a:off x="822960" y="3154680"/>
            <a:ext cx="10515600" cy="457200"/>
          </a:xfrm>
          <a:prstGeom prst="rect">
            <a:avLst/>
          </a:prstGeom>
          <a:noFill/>
          <a:ln/>
        </p:spPr>
        <p:txBody>
          <a:bodyPr wrap="square" lIns="0" tIns="0" rIns="0" bIns="0" rtlCol="0" anchor="ctr"/>
          <a:lstStyle/>
          <a:p>
            <a:pPr indent="0" marL="0">
              <a:buNone/>
            </a:pPr>
            <a:r>
              <a:rPr lang="en-US" sz="2000" dirty="0">
                <a:solidFill>
                  <a:srgbClr val="C8A02C"/>
                </a:solidFill>
                <a:latin typeface="Calibri" pitchFamily="34" charset="0"/>
                <a:ea typeface="Calibri" pitchFamily="34" charset="-122"/>
                <a:cs typeface="Calibri" pitchFamily="34" charset="-120"/>
              </a:rPr>
              <a:t>Questions &amp; Suggestions</a:t>
            </a:r>
            <a:endParaRPr lang="en-US" sz="2000" dirty="0"/>
          </a:p>
        </p:txBody>
      </p:sp>
      <p:sp>
        <p:nvSpPr>
          <p:cNvPr id="4" name="Shape 2"/>
          <p:cNvSpPr/>
          <p:nvPr/>
        </p:nvSpPr>
        <p:spPr>
          <a:xfrm>
            <a:off x="822960" y="3977640"/>
            <a:ext cx="2926080" cy="0"/>
          </a:xfrm>
          <a:prstGeom prst="line">
            <a:avLst/>
          </a:prstGeom>
          <a:noFill/>
          <a:ln w="25400">
            <a:solidFill>
              <a:srgbClr val="2E3F6E"/>
            </a:solidFill>
            <a:prstDash val="solid"/>
          </a:ln>
        </p:spPr>
      </p:sp>
      <p:sp>
        <p:nvSpPr>
          <p:cNvPr id="5" name="Text 3"/>
          <p:cNvSpPr txBox="1"/>
          <p:nvPr/>
        </p:nvSpPr>
        <p:spPr>
          <a:xfrm>
            <a:off x="822960" y="4251960"/>
            <a:ext cx="10515600" cy="365760"/>
          </a:xfrm>
          <a:prstGeom prst="rect">
            <a:avLst/>
          </a:prstGeom>
          <a:noFill/>
          <a:ln/>
        </p:spPr>
        <p:txBody>
          <a:bodyPr wrap="square" lIns="0" tIns="0" rIns="0" bIns="0" rtlCol="0" anchor="ctr"/>
          <a:lstStyle/>
          <a:p>
            <a:pPr indent="0" marL="0">
              <a:buNone/>
            </a:pPr>
            <a:r>
              <a:rPr lang="en-US" sz="1400" dirty="0">
                <a:solidFill>
                  <a:srgbClr val="AEBBD6"/>
                </a:solidFill>
                <a:latin typeface="Calibri" pitchFamily="34" charset="0"/>
                <a:ea typeface="Calibri" pitchFamily="34" charset="-122"/>
                <a:cs typeface="Calibri" pitchFamily="34" charset="-120"/>
              </a:rPr>
              <a:t>Team: Bhavana D, Sahithi P (Team 22)   |   Guide: Raghavendra   |   Dept. of CSE, KLH Bachupally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 Project - Model Review Presentation</dc:title>
  <dc:subject>PptxGenJS Presentation</dc:subject>
  <dc:creator>Dept. of CSE, KLH Bachupally</dc:creator>
  <cp:lastModifiedBy>Dept. of CSE, KLH Bachupally</cp:lastModifiedBy>
  <cp:revision>1</cp:revision>
  <dcterms:created xsi:type="dcterms:W3CDTF">2026-09-16T05:47:29Z</dcterms:created>
  <dcterms:modified xsi:type="dcterms:W3CDTF">2026-09-16T05:47:29Z</dcterms:modified>
</cp:coreProperties>
</file>